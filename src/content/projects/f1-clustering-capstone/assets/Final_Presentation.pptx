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68" r:id="rId5"/>
    <p:sldId id="290" r:id="rId6"/>
    <p:sldId id="257" r:id="rId7"/>
    <p:sldId id="277" r:id="rId8"/>
    <p:sldId id="272" r:id="rId9"/>
    <p:sldId id="288" r:id="rId10"/>
    <p:sldId id="287" r:id="rId11"/>
    <p:sldId id="281" r:id="rId12"/>
    <p:sldId id="297" r:id="rId13"/>
    <p:sldId id="294" r:id="rId14"/>
    <p:sldId id="286" r:id="rId15"/>
    <p:sldId id="282" r:id="rId16"/>
    <p:sldId id="256" r:id="rId17"/>
    <p:sldId id="298" r:id="rId18"/>
    <p:sldId id="276" r:id="rId19"/>
    <p:sldId id="292" r:id="rId20"/>
    <p:sldId id="274" r:id="rId21"/>
    <p:sldId id="264" r:id="rId22"/>
    <p:sldId id="285" r:id="rId23"/>
    <p:sldId id="279" r:id="rId24"/>
    <p:sldId id="270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FF2D2D"/>
    <a:srgbClr val="D60000"/>
    <a:srgbClr val="FF6600"/>
    <a:srgbClr val="00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63"/>
        <p:guide pos="37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B30D-28FD-4053-A515-5A7C5CEFF3F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F7A7A-D68C-4A7F-B7BA-3428EA0F4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28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1 minute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3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B1A43-E702-BB90-9CA5-0AFB2009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358EE-49F8-4580-80FF-5BF5273E4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14E0F-5B18-0AAA-CECF-3E03A33CA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45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4A14B-DC92-7F3D-8183-DFB75064E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20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BA7B-4530-B467-9729-CEC23B70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1DEF1-5B53-E266-8C58-A67FA8D3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E6113-A591-6ADF-E993-7D2E869C9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30 seconds (Sam)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28F92-00F2-E30C-B79C-6C4771AFE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008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12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80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30 seconds (Sam)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92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3D0F-3580-0FE2-B86B-D5DB5622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32592-49C2-E7CD-BD1A-06845B1AB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96E9A-5F81-8F88-4A99-47B3FA4C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30 seconds (Sam)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A8332-AF7C-A99B-5341-76F9D6533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375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 minute</a:t>
            </a:r>
          </a:p>
          <a:p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30 Seconds on AWS EC2 (Sam)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20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7AB-5AAE-18C6-9944-B3B3B4F1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57E4-9A52-294C-0E09-6011D8877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D7D8-FC06-1EA1-521A-5A13AB40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D0DC2-BBA1-70A1-9699-37393366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F4DC-2724-0C28-C1AD-92C187DD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8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0422-8A33-E793-C82D-32AE639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8E460-3297-36EC-6891-9A0ABDC9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3B2DF-50E6-301C-9F02-6D4EF66B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4A165-880E-FD79-B79E-819EC5B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81748-ED5E-B48C-52E4-1CB2539C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3785-245D-9732-5D98-E8E7452F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388A-1A8C-7821-C9F8-2AF2630AD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1FD4-DC53-1CB3-1EF5-65F2D9A4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E12F5-54A7-9085-B9D4-9A0359A7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29C49-BA01-E63C-0224-1762404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6340C-57CC-8C55-C513-8B164F17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0BA9-F524-1383-DC39-14FF70D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B5D2F-C3DE-A354-4EAC-E67F145D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0282-84C3-606B-8A6D-58DA99B50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AFC4E-615D-398F-AFF6-1960B14E8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CB097-3EAD-1485-2621-A8DB7211C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5143-B6C6-0BBC-72AA-AD6F7250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F260-00DC-D796-F1A1-9B789116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98CF1-52AC-0EC4-8CAA-5E684A1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0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FA19-96EF-3971-6465-91B4F34B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1398B-FD05-1CF8-B305-FE13E081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D4ED1-26E1-B400-C470-0760D496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2B26A-A220-6FB1-4DFE-B0C9BDF0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6CAC0-08D2-3F33-E531-A13BCB86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6D8D7-5C6B-53D2-CB3C-AD6AF6B0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81B2-EBCF-A786-FAB8-D73707E5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6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DBDA-4EFF-AA77-DBA4-5ADBD69F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144D-4AD3-535A-6645-2760E68B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C3481-120E-ABEC-0C13-016B75BB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10636-73D3-BFFC-97B8-6A7421D6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CD732-EB71-58B6-C8E0-16EC600A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FF124-9BE2-9E83-D72F-71ABBE1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D479-B560-0832-AF6A-9BA18EFC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30E6D-9DDD-EA2C-323B-F1AF128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C8122-F949-2E37-A855-7B4BAAB05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F7E2-F078-F424-EBFC-9E7CFDA9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4F1CA-CEF6-C736-E3A3-C59A669E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4E8AE-723F-E87D-349A-A98DE16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8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6FEB-4B82-3BE0-4434-2F664522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FDB76-83FC-C7C9-4E7F-DDBEF874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485A2-E200-5B49-D9A5-C730C309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3B96-D5A5-9286-E4AE-29827603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A020-D39F-AAE8-D809-E09D6578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5560F-9E8A-148D-E746-EE2E10F7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10569-5DF3-CAD5-CC4F-0B13235AA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C23F8-D9FA-4C05-4D48-75AE8DE2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C32C-472C-AF17-BB31-EB4A05A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C8C7-07B1-D4DC-3A30-586F775C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89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11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00F38-1FBE-E448-0DD3-F492EF49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1D3DB-25FD-8CA8-B6F1-C0A40D49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119D-6F61-E1F1-C996-2016F9FA6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53A8F-0147-4CA3-A143-B9D664F0D16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AEA1-B5F4-D5B0-56D0-29FC62269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A506-44B0-FD89-6211-54ECC301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ce car on a track&#10;&#10;AI-generated content may be incorrect.">
            <a:extLst>
              <a:ext uri="{FF2B5EF4-FFF2-40B4-BE49-F238E27FC236}">
                <a16:creationId xmlns:a16="http://schemas.microsoft.com/office/drawing/2014/main" id="{81C4792B-A861-36D5-D203-4F20E083C7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 b="-75"/>
          <a:stretch>
            <a:fillRect/>
          </a:stretch>
        </p:blipFill>
        <p:spPr>
          <a:xfrm>
            <a:off x="-177658" y="-104205"/>
            <a:ext cx="12572331" cy="7077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6F9E4-E10D-A8FB-E79C-9C469312F7EF}"/>
              </a:ext>
            </a:extLst>
          </p:cNvPr>
          <p:cNvSpPr txBox="1"/>
          <p:nvPr/>
        </p:nvSpPr>
        <p:spPr>
          <a:xfrm>
            <a:off x="975351" y="87816"/>
            <a:ext cx="849229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latin typeface="Poppins SemiBold"/>
                <a:cs typeface="Poppins SemiBold"/>
              </a:rPr>
              <a:t>Formula 1</a:t>
            </a:r>
            <a:endParaRPr lang="en-US" sz="9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788B9-D850-BD0D-BCA7-88D5D7F63BA6}"/>
              </a:ext>
            </a:extLst>
          </p:cNvPr>
          <p:cNvSpPr txBox="1"/>
          <p:nvPr/>
        </p:nvSpPr>
        <p:spPr>
          <a:xfrm>
            <a:off x="971572" y="1438631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600">
                <a:latin typeface="Calibri Light"/>
                <a:ea typeface="Calibri Light"/>
                <a:cs typeface="Calibri Light"/>
              </a:rPr>
              <a:t>Telemetry Insights Visual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7CBB5-FE68-33F4-9D63-F881538A8016}"/>
              </a:ext>
            </a:extLst>
          </p:cNvPr>
          <p:cNvSpPr txBox="1"/>
          <p:nvPr/>
        </p:nvSpPr>
        <p:spPr>
          <a:xfrm>
            <a:off x="1106043" y="5950027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u="sng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Project Report By: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1B62B-2109-BB9F-6DD0-46ECD479464E}"/>
              </a:ext>
            </a:extLst>
          </p:cNvPr>
          <p:cNvSpPr txBox="1"/>
          <p:nvPr/>
        </p:nvSpPr>
        <p:spPr>
          <a:xfrm>
            <a:off x="1106042" y="6246360"/>
            <a:ext cx="9478128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Eli Rose, Caden Williamson, Sam Brooks, </a:t>
            </a:r>
            <a:endParaRPr lang="en-US" sz="1400" spc="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Blake Dismore, Kolby Stoll, and Nicholas Calhoun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03D15-4DCD-FD09-D802-AECC6661E20F}"/>
              </a:ext>
            </a:extLst>
          </p:cNvPr>
          <p:cNvSpPr txBox="1"/>
          <p:nvPr/>
        </p:nvSpPr>
        <p:spPr>
          <a:xfrm>
            <a:off x="975351" y="20581"/>
            <a:ext cx="621750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solidFill>
                  <a:srgbClr val="D60000"/>
                </a:solidFill>
                <a:latin typeface="Poppins SemiBold"/>
                <a:cs typeface="Poppins SemiBold"/>
              </a:rPr>
              <a:t>Formula 1</a:t>
            </a:r>
            <a:endParaRPr lang="en-US" sz="9600">
              <a:solidFill>
                <a:srgbClr val="D60000"/>
              </a:solidFill>
            </a:endParaRPr>
          </a:p>
        </p:txBody>
      </p:sp>
      <p:pic>
        <p:nvPicPr>
          <p:cNvPr id="1026" name="Picture 2" descr="GM Changes Its Logo for the First Time in Over 50 Years - MotorBiscuit">
            <a:extLst>
              <a:ext uri="{FF2B5EF4-FFF2-40B4-BE49-F238E27FC236}">
                <a16:creationId xmlns:a16="http://schemas.microsoft.com/office/drawing/2014/main" id="{C353EAEC-15C3-923D-200B-794E8CAD6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205" y="261552"/>
            <a:ext cx="972888" cy="97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080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094CB-8AF4-12B9-85FC-9406DA10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7D5719-D900-5C78-5CC2-78AB491860A5}"/>
              </a:ext>
            </a:extLst>
          </p:cNvPr>
          <p:cNvSpPr txBox="1"/>
          <p:nvPr/>
        </p:nvSpPr>
        <p:spPr>
          <a:xfrm>
            <a:off x="127673" y="255921"/>
            <a:ext cx="2648482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Poppins SemiBold"/>
                <a:cs typeface="Poppins SemiBold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09EE9-F137-FA38-D5AA-8D70325FB16D}"/>
              </a:ext>
            </a:extLst>
          </p:cNvPr>
          <p:cNvSpPr txBox="1"/>
          <p:nvPr/>
        </p:nvSpPr>
        <p:spPr>
          <a:xfrm>
            <a:off x="125101" y="1337298"/>
            <a:ext cx="8756999" cy="5524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Formula 1 is one of the most data-driven sports, yet driver impact is often overlooked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Engineers want to identify optimal lap patterns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Drivers benefit from objective performance feedback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>
              <a:lnSpc>
                <a:spcPct val="130000"/>
              </a:lnSpc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What is hard about F1 telemetry analysis?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Raw lap data is massive, multidimensional, and difficult </a:t>
            </a:r>
            <a:b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</a:b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to interpret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Hard to identify patterns in driver performance manually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Need automated way to group similar laps and identify driving styles</a:t>
            </a:r>
          </a:p>
          <a:p>
            <a:pPr>
              <a:lnSpc>
                <a:spcPct val="130000"/>
              </a:lnSpc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49F017-5F19-00A4-E0A5-DCEA00EAA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580000">
            <a:off x="8421636" y="2629117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5443B46-A37B-4AE9-41D4-CDBB9E7BA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0000">
            <a:off x="8312836" y="-537095"/>
            <a:ext cx="6820786" cy="89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7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237607" y="148810"/>
            <a:ext cx="740858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Objective</a:t>
            </a:r>
            <a:endParaRPr lang="en-US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39636" y="5844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47601">
            <a:off x="8722647" y="-289960"/>
            <a:ext cx="5945520" cy="5627010"/>
          </a:xfrm>
          <a:prstGeom prst="rect">
            <a:avLst/>
          </a:prstGeom>
        </p:spPr>
      </p:pic>
      <p:pic>
        <p:nvPicPr>
          <p:cNvPr id="6" name="Picture 5" descr="A race car with a black background&#10;&#10;AI-generated content may be incorrect.">
            <a:extLst>
              <a:ext uri="{FF2B5EF4-FFF2-40B4-BE49-F238E27FC236}">
                <a16:creationId xmlns:a16="http://schemas.microsoft.com/office/drawing/2014/main" id="{B64185D7-FE24-AD33-4F15-139D10515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71" y="3030942"/>
            <a:ext cx="8053185" cy="5082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96B8DB-EA94-D2FD-123C-143094E5A829}"/>
              </a:ext>
            </a:extLst>
          </p:cNvPr>
          <p:cNvSpPr txBox="1"/>
          <p:nvPr/>
        </p:nvSpPr>
        <p:spPr>
          <a:xfrm>
            <a:off x="235437" y="1047991"/>
            <a:ext cx="8314479" cy="6133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Transform raw F1 telemetry into meaningful driver insights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Identify performance patterns through clustering algorithms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sz="24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Group drivers into "driving styles"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Develop an interactive dashboard for intuitive data exploration</a:t>
            </a:r>
          </a:p>
          <a:p>
            <a:pPr marL="285750" lvl="0" indent="-285750" algn="l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Given the choice between two open source F1 data sources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sz="2400"/>
          </a:p>
          <a:p>
            <a:pPr marL="742950" lvl="1" indent="-28575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Tracing Insights vs FastF1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lvl="1">
              <a:lnSpc>
                <a:spcPct val="150000"/>
              </a:lnSpc>
            </a:pPr>
            <a:endParaRPr lang="en-US" sz="24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lvl="0" indent="-285750" algn="l" rtl="0">
              <a:lnSpc>
                <a:spcPct val="150000"/>
              </a:lnSpc>
              <a:buFont typeface="Arial"/>
              <a:buChar char="•"/>
            </a:pPr>
            <a:endParaRPr lang="en-US" sz="24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877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DA675-F3F2-62B6-1D48-C297004A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67B07-0C53-B868-CCBF-55E700EB588B}"/>
              </a:ext>
            </a:extLst>
          </p:cNvPr>
          <p:cNvSpPr txBox="1"/>
          <p:nvPr/>
        </p:nvSpPr>
        <p:spPr>
          <a:xfrm>
            <a:off x="640586" y="3170084"/>
            <a:ext cx="10904599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0000">
                <a:solidFill>
                  <a:srgbClr val="FF0000"/>
                </a:solidFill>
                <a:latin typeface="Poppins SemiBold"/>
                <a:cs typeface="Poppins SemiBold"/>
              </a:rPr>
              <a:t>Data Ingestion</a:t>
            </a:r>
            <a:endParaRPr lang="en-US"/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E96A47F6-3EDC-FA2F-1ABC-CA8FD37DE4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E922D253-17A9-5AE1-0DB0-911ABC091402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81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6766-2ECF-99B7-C809-E86EEF4A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9">
            <a:extLst>
              <a:ext uri="{FF2B5EF4-FFF2-40B4-BE49-F238E27FC236}">
                <a16:creationId xmlns:a16="http://schemas.microsoft.com/office/drawing/2014/main" id="{4A25D715-3778-1B89-FD61-62777D509B33}"/>
              </a:ext>
            </a:extLst>
          </p:cNvPr>
          <p:cNvSpPr/>
          <p:nvPr/>
        </p:nvSpPr>
        <p:spPr>
          <a:xfrm>
            <a:off x="-1257" y="5289"/>
            <a:ext cx="12188809" cy="685488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>
              <a:alpha val="4000"/>
            </a:srgbClr>
          </a:solidFill>
          <a:ln w="6212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D98B1-B983-1150-B8B1-56FF9B73B652}"/>
              </a:ext>
            </a:extLst>
          </p:cNvPr>
          <p:cNvSpPr txBox="1"/>
          <p:nvPr/>
        </p:nvSpPr>
        <p:spPr>
          <a:xfrm>
            <a:off x="740816" y="170723"/>
            <a:ext cx="10708029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500" b="1">
                <a:solidFill>
                  <a:srgbClr val="FF0000"/>
                </a:solidFill>
                <a:latin typeface="Poppins SemiBold"/>
                <a:cs typeface="Poppins SemiBold"/>
              </a:rPr>
              <a:t>Initial Tracing Insights Data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F0079-6F95-CC28-B69F-1C7B5AAD070D}"/>
              </a:ext>
            </a:extLst>
          </p:cNvPr>
          <p:cNvSpPr txBox="1"/>
          <p:nvPr/>
        </p:nvSpPr>
        <p:spPr>
          <a:xfrm>
            <a:off x="2635367" y="1039180"/>
            <a:ext cx="6910556" cy="5930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Telemetry output for a single lap</a:t>
            </a:r>
            <a:endParaRPr lang="en-US" b="1"/>
          </a:p>
        </p:txBody>
      </p:sp>
      <p:pic>
        <p:nvPicPr>
          <p:cNvPr id="4" name="Video Project">
            <a:hlinkClick r:id="" action="ppaction://media"/>
            <a:extLst>
              <a:ext uri="{FF2B5EF4-FFF2-40B4-BE49-F238E27FC236}">
                <a16:creationId xmlns:a16="http://schemas.microsoft.com/office/drawing/2014/main" id="{E1105514-4197-FCF7-CF4A-A3FE340AE7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5324" b="5131"/>
          <a:stretch>
            <a:fillRect/>
          </a:stretch>
        </p:blipFill>
        <p:spPr>
          <a:xfrm>
            <a:off x="1757902" y="1715854"/>
            <a:ext cx="8665485" cy="437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3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FD26-D307-C942-B52B-91D6FA55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84A32B-80E9-06E8-293E-396DA2E39A35}"/>
              </a:ext>
            </a:extLst>
          </p:cNvPr>
          <p:cNvSpPr txBox="1"/>
          <p:nvPr/>
        </p:nvSpPr>
        <p:spPr>
          <a:xfrm>
            <a:off x="3431653" y="133644"/>
            <a:ext cx="5328703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Database Design</a:t>
            </a:r>
            <a:endParaRPr lang="en-US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399A6EBF-A2D7-D4E9-3042-B1503D8A4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7D7CD03-54E1-5D65-B51D-8C1F73B7F2B8}"/>
              </a:ext>
            </a:extLst>
          </p:cNvPr>
          <p:cNvSpPr txBox="1"/>
          <p:nvPr/>
        </p:nvSpPr>
        <p:spPr>
          <a:xfrm>
            <a:off x="450967" y="3904300"/>
            <a:ext cx="3527276" cy="1903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cs typeface="Poppins Medium"/>
              </a:rPr>
              <a:t>       Conglomerate Table</a:t>
            </a:r>
          </a:p>
          <a:p>
            <a:pPr>
              <a:lnSpc>
                <a:spcPct val="150000"/>
              </a:lnSpc>
            </a:pPr>
            <a:endParaRPr lang="en-US" sz="1600">
              <a:cs typeface="Poppins Medium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Full Table Scan</a:t>
            </a:r>
            <a:endParaRPr lang="en-US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cs typeface="Poppins Medium"/>
              </a:rPr>
              <a:t>SELECT Statements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cs typeface="Poppins Medium"/>
              </a:rPr>
              <a:t>~2 minutes per driver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1AD1291-6C7B-765A-AA7B-ECDC37FFFAB8}"/>
              </a:ext>
            </a:extLst>
          </p:cNvPr>
          <p:cNvSpPr txBox="1"/>
          <p:nvPr/>
        </p:nvSpPr>
        <p:spPr>
          <a:xfrm>
            <a:off x="450967" y="1384620"/>
            <a:ext cx="2470636" cy="971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ptos"/>
                <a:cs typeface="Poppins Medium"/>
              </a:rPr>
              <a:t>Started with a </a:t>
            </a:r>
            <a:endParaRPr lang="en-US" dirty="0">
              <a:solidFill>
                <a:srgbClr val="000000"/>
              </a:solidFill>
              <a:latin typeface="Aptos"/>
              <a:cs typeface="Poppins Medium"/>
            </a:endParaRP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000000"/>
                </a:solidFill>
                <a:latin typeface="Aptos"/>
                <a:cs typeface="Poppins Medium"/>
              </a:rPr>
              <a:t>1 Table Architecture</a:t>
            </a:r>
            <a:endParaRPr lang="en-US" i="1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68E3F0D-20FE-E3DB-D76C-AD91E477FC7A}"/>
              </a:ext>
            </a:extLst>
          </p:cNvPr>
          <p:cNvSpPr txBox="1"/>
          <p:nvPr/>
        </p:nvSpPr>
        <p:spPr>
          <a:xfrm>
            <a:off x="4057767" y="1323660"/>
            <a:ext cx="2470636" cy="971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cs typeface="Poppins Medium"/>
              </a:rPr>
              <a:t>Transitioned to a</a:t>
            </a:r>
          </a:p>
          <a:p>
            <a:pPr algn="ctr">
              <a:lnSpc>
                <a:spcPct val="150000"/>
              </a:lnSpc>
            </a:pPr>
            <a:r>
              <a:rPr lang="en-US" sz="2000" i="1">
                <a:solidFill>
                  <a:srgbClr val="000000"/>
                </a:solidFill>
                <a:latin typeface="Aptos"/>
                <a:cs typeface="Poppins Medium"/>
              </a:rPr>
              <a:t>2 Table Architecture</a:t>
            </a:r>
            <a:endParaRPr lang="en-US" i="1">
              <a:cs typeface="Poppins Medium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6EE0E9C-2CD0-1CEA-AC41-F36A01D86E8B}"/>
              </a:ext>
            </a:extLst>
          </p:cNvPr>
          <p:cNvSpPr txBox="1"/>
          <p:nvPr/>
        </p:nvSpPr>
        <p:spPr>
          <a:xfrm>
            <a:off x="3742807" y="3904300"/>
            <a:ext cx="3527276" cy="2272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cs typeface="Poppins Medium"/>
              </a:rPr>
              <a:t>Metadata Table vs Telemetry Table</a:t>
            </a:r>
          </a:p>
          <a:p>
            <a:pPr>
              <a:lnSpc>
                <a:spcPct val="150000"/>
              </a:lnSpc>
            </a:pPr>
            <a:endParaRPr lang="en-US" sz="1600">
              <a:cs typeface="Poppins Medium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Schema Rework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cs typeface="Poppins Medium"/>
              </a:rPr>
              <a:t>SELECT Statements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cs typeface="Poppins Medium"/>
              </a:rPr>
              <a:t>~1 minute per driver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cs typeface="Poppins Medium"/>
              </a:rPr>
              <a:t>2x times speedup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5597E5CC-29E1-004F-C660-82AA41D6777C}"/>
              </a:ext>
            </a:extLst>
          </p:cNvPr>
          <p:cNvSpPr txBox="1"/>
          <p:nvPr/>
        </p:nvSpPr>
        <p:spPr>
          <a:xfrm>
            <a:off x="8396087" y="1323660"/>
            <a:ext cx="2572236" cy="971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cs typeface="Poppins Medium"/>
              </a:rPr>
              <a:t>Finalized a</a:t>
            </a:r>
          </a:p>
          <a:p>
            <a:pPr algn="ctr">
              <a:lnSpc>
                <a:spcPct val="150000"/>
              </a:lnSpc>
            </a:pPr>
            <a:r>
              <a:rPr lang="en-US" sz="2000" i="1">
                <a:solidFill>
                  <a:srgbClr val="000000"/>
                </a:solidFill>
                <a:latin typeface="Aptos"/>
                <a:cs typeface="Poppins Medium"/>
              </a:rPr>
              <a:t>48 Table Architecture</a:t>
            </a:r>
            <a:endParaRPr lang="en-US" i="1">
              <a:cs typeface="Poppins Medium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84EA50BC-12EC-933F-2E03-D7DD04D32388}"/>
              </a:ext>
            </a:extLst>
          </p:cNvPr>
          <p:cNvSpPr txBox="1"/>
          <p:nvPr/>
        </p:nvSpPr>
        <p:spPr>
          <a:xfrm>
            <a:off x="7796647" y="3904300"/>
            <a:ext cx="3994636" cy="2272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cs typeface="Poppins Medium"/>
              </a:rPr>
              <a:t>2 Tables (Metadata / Telemetry) Per Race</a:t>
            </a:r>
            <a:endParaRPr lang="en-US"/>
          </a:p>
          <a:p>
            <a:pPr>
              <a:lnSpc>
                <a:spcPct val="150000"/>
              </a:lnSpc>
            </a:pPr>
            <a:endParaRPr lang="en-US" sz="1600">
              <a:cs typeface="Poppins Medium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cs typeface="Poppins Medium"/>
              </a:rPr>
              <a:t>Indexing / Table Rework</a:t>
            </a:r>
            <a:endParaRPr lang="en-US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600">
                <a:cs typeface="Poppins Medium"/>
              </a:rPr>
              <a:t>SELECT Statements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cs typeface="Poppins Medium"/>
              </a:rPr>
              <a:t>~1 second per driver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cs typeface="Poppins Medium"/>
              </a:rPr>
              <a:t>60x speedup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111D3-0B9E-1931-C7BD-7E6576507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579" y="2294952"/>
            <a:ext cx="1609950" cy="1609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30E15-84A3-B68E-026F-E8BA330AEB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0231" y="2294952"/>
            <a:ext cx="3760160" cy="1479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FAA70A-A3F1-28DE-80E8-8DB3F9DF5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042" y="2294651"/>
            <a:ext cx="1609950" cy="1609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42EF47-5B38-58FC-F074-EEA4D261D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1025" y="2294651"/>
            <a:ext cx="160995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5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B6BD4-7092-C8D3-0B1C-7308BDC1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653D06-A7C4-5D34-5E67-27C3F2D245A4}"/>
              </a:ext>
            </a:extLst>
          </p:cNvPr>
          <p:cNvSpPr txBox="1"/>
          <p:nvPr/>
        </p:nvSpPr>
        <p:spPr>
          <a:xfrm>
            <a:off x="237607" y="148810"/>
            <a:ext cx="740858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Database Schema</a:t>
            </a:r>
            <a:endParaRPr lang="en-US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5EED0FC5-E0CE-5EA5-4CD0-511ECDDF3D63}"/>
              </a:ext>
            </a:extLst>
          </p:cNvPr>
          <p:cNvSpPr/>
          <p:nvPr/>
        </p:nvSpPr>
        <p:spPr>
          <a:xfrm rot="21176416">
            <a:off x="-639636" y="5844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0A70DB4-188F-61FC-E4E5-629A290B0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47601">
            <a:off x="8722647" y="-289960"/>
            <a:ext cx="5945520" cy="5627010"/>
          </a:xfrm>
          <a:prstGeom prst="rect">
            <a:avLst/>
          </a:prstGeom>
        </p:spPr>
      </p:pic>
      <p:pic>
        <p:nvPicPr>
          <p:cNvPr id="6" name="Picture 5" descr="A race car with a black background&#10;&#10;AI-generated content may be incorrect.">
            <a:extLst>
              <a:ext uri="{FF2B5EF4-FFF2-40B4-BE49-F238E27FC236}">
                <a16:creationId xmlns:a16="http://schemas.microsoft.com/office/drawing/2014/main" id="{133EF495-3457-D29F-C043-56176684F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71" y="3030942"/>
            <a:ext cx="8053185" cy="50828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446B8F-DF6F-87B2-0111-29AB1BCDD8B4}"/>
              </a:ext>
            </a:extLst>
          </p:cNvPr>
          <p:cNvSpPr txBox="1"/>
          <p:nvPr/>
        </p:nvSpPr>
        <p:spPr>
          <a:xfrm>
            <a:off x="237607" y="3721420"/>
            <a:ext cx="6493996" cy="2255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Indexing in Metadata for Fast Queries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~ </a:t>
            </a:r>
            <a:r>
              <a:rPr lang="en-US" sz="2400" b="1">
                <a:solidFill>
                  <a:srgbClr val="000000"/>
                </a:solidFill>
                <a:latin typeface="Aptos"/>
                <a:cs typeface="Poppins Medium"/>
              </a:rPr>
              <a:t>18,000,000 </a:t>
            </a: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Total Telemetry Records!!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~ </a:t>
            </a:r>
            <a:r>
              <a:rPr lang="en-US" sz="2400" b="1">
                <a:solidFill>
                  <a:srgbClr val="000000"/>
                </a:solidFill>
                <a:latin typeface="Aptos"/>
                <a:cs typeface="Poppins Medium"/>
              </a:rPr>
              <a:t>750,000 </a:t>
            </a: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Records Per Table </a:t>
            </a: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000000"/>
                </a:solidFill>
                <a:latin typeface="Aptos"/>
                <a:cs typeface="Poppins Medium"/>
              </a:rPr>
              <a:t>    48</a:t>
            </a:r>
            <a:r>
              <a:rPr lang="en-US" sz="2400">
                <a:solidFill>
                  <a:srgbClr val="000000"/>
                </a:solidFill>
                <a:latin typeface="Aptos"/>
                <a:cs typeface="Poppins Medium"/>
              </a:rPr>
              <a:t> Total Tables</a:t>
            </a:r>
            <a:endParaRPr lang="en-US" sz="2400">
              <a:solidFill>
                <a:srgbClr val="000000"/>
              </a:solidFill>
              <a:latin typeface="Aptos"/>
              <a:cs typeface="Poppins Medium" panose="00000600000000000000" pitchFamily="2" charset="0"/>
            </a:endParaRPr>
          </a:p>
        </p:txBody>
      </p:sp>
      <p:pic>
        <p:nvPicPr>
          <p:cNvPr id="17" name="Picture 16" descr="A computer screen shot of a black background&#10;&#10;AI-generated content may be incorrect.">
            <a:extLst>
              <a:ext uri="{FF2B5EF4-FFF2-40B4-BE49-F238E27FC236}">
                <a16:creationId xmlns:a16="http://schemas.microsoft.com/office/drawing/2014/main" id="{D7B3EB83-C48C-9CA9-734B-20FDA68ABA0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896" y="1186961"/>
            <a:ext cx="6397870" cy="2256693"/>
          </a:xfrm>
          <a:prstGeom prst="rect">
            <a:avLst/>
          </a:prstGeom>
        </p:spPr>
      </p:pic>
      <p:pic>
        <p:nvPicPr>
          <p:cNvPr id="19" name="Picture 1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BA5DF2C-22ED-2D1B-C5DA-670348E787B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11817" y="144071"/>
            <a:ext cx="5451235" cy="388646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6F6C6B-01C3-7DDA-4A0B-BFF1812A5918}"/>
              </a:ext>
            </a:extLst>
          </p:cNvPr>
          <p:cNvSpPr/>
          <p:nvPr/>
        </p:nvSpPr>
        <p:spPr>
          <a:xfrm>
            <a:off x="199293" y="2552504"/>
            <a:ext cx="4771291" cy="57443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0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88299-8DBF-6356-2B24-80C4EE0D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C6CDB9-17B3-2168-CF62-50FE1DACD758}"/>
              </a:ext>
            </a:extLst>
          </p:cNvPr>
          <p:cNvSpPr txBox="1"/>
          <p:nvPr/>
        </p:nvSpPr>
        <p:spPr>
          <a:xfrm>
            <a:off x="3979" y="3179729"/>
            <a:ext cx="1217781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0000">
                <a:solidFill>
                  <a:srgbClr val="FF0000"/>
                </a:solidFill>
                <a:latin typeface="Poppins SemiBold"/>
                <a:cs typeface="Poppins SemiBold"/>
              </a:rPr>
              <a:t>Data Processing</a:t>
            </a:r>
            <a:endParaRPr lang="en-US"/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B287F898-71B2-9848-2A4E-F7AFF295F2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75A1D459-1EC9-0C84-3051-304CDE966317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61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4AFE-CAB4-9EFA-3E74-3140C18D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076257B-4838-C906-D904-0DA3A0E88A97}"/>
              </a:ext>
            </a:extLst>
          </p:cNvPr>
          <p:cNvSpPr/>
          <p:nvPr/>
        </p:nvSpPr>
        <p:spPr>
          <a:xfrm rot="540000">
            <a:off x="-1637065" y="5776801"/>
            <a:ext cx="14396285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09016-D7A6-9CB2-7AB5-09DFE7605423}"/>
              </a:ext>
            </a:extLst>
          </p:cNvPr>
          <p:cNvSpPr txBox="1"/>
          <p:nvPr/>
        </p:nvSpPr>
        <p:spPr>
          <a:xfrm>
            <a:off x="158189" y="1329250"/>
            <a:ext cx="50960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14 Total Telemetry Metrics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96262-D2B3-C05F-E067-03354D565DFB}"/>
              </a:ext>
            </a:extLst>
          </p:cNvPr>
          <p:cNvSpPr txBox="1"/>
          <p:nvPr/>
        </p:nvSpPr>
        <p:spPr>
          <a:xfrm>
            <a:off x="162906" y="102155"/>
            <a:ext cx="10058654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</a:rPr>
              <a:t>Metric Selection for Clustering</a:t>
            </a:r>
            <a:endParaRPr lang="en-US"/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8AB07D-347A-A08A-DB99-787C86725F3B}"/>
              </a:ext>
            </a:extLst>
          </p:cNvPr>
          <p:cNvCxnSpPr/>
          <p:nvPr/>
        </p:nvCxnSpPr>
        <p:spPr>
          <a:xfrm flipV="1">
            <a:off x="-846" y="991949"/>
            <a:ext cx="12192734" cy="53243"/>
          </a:xfrm>
          <a:prstGeom prst="straightConnector1">
            <a:avLst/>
          </a:prstGeom>
          <a:ln w="28575">
            <a:solidFill>
              <a:srgbClr val="E6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3645DE-50B7-E9CD-337A-2C47B5AFE06F}"/>
              </a:ext>
            </a:extLst>
          </p:cNvPr>
          <p:cNvSpPr txBox="1"/>
          <p:nvPr/>
        </p:nvSpPr>
        <p:spPr>
          <a:xfrm>
            <a:off x="161959" y="1996693"/>
            <a:ext cx="55975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Throttle, RPM, Gear, Brake, Speed, Accel_x,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Accel_y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Accel_z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Pos_x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Pos_y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Pos_z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Time,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Rel_distance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and DRS</a:t>
            </a:r>
            <a:endParaRPr lang="en-US" sz="2400" i="1"/>
          </a:p>
        </p:txBody>
      </p:sp>
      <p:pic>
        <p:nvPicPr>
          <p:cNvPr id="25" name="Picture 24" descr="A race car with black wheels&#10;&#10;AI-generated content may be incorrect.">
            <a:extLst>
              <a:ext uri="{FF2B5EF4-FFF2-40B4-BE49-F238E27FC236}">
                <a16:creationId xmlns:a16="http://schemas.microsoft.com/office/drawing/2014/main" id="{EC2740B9-0DF1-3010-FD0A-5CB7FBB5D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 flipH="1">
            <a:off x="-176718" y="3563365"/>
            <a:ext cx="6187166" cy="3772132"/>
          </a:xfrm>
          <a:prstGeom prst="rect">
            <a:avLst/>
          </a:prstGeom>
          <a:effectLst>
            <a:outerShdw blurRad="165100" dist="165100" dir="8880000">
              <a:srgbClr val="000000">
                <a:alpha val="59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3FC84-63D3-3844-6DE0-58D405D7BE7E}"/>
              </a:ext>
            </a:extLst>
          </p:cNvPr>
          <p:cNvSpPr txBox="1"/>
          <p:nvPr/>
        </p:nvSpPr>
        <p:spPr>
          <a:xfrm>
            <a:off x="7324759" y="2098292"/>
            <a:ext cx="4583440" cy="16979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Throttle, RPM, Gear, Brake, Speed, Accel_x,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Accel_y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Accel_z</a:t>
            </a:r>
            <a:r>
              <a:rPr lang="en-US" sz="2400" i="1">
                <a:solidFill>
                  <a:srgbClr val="000000"/>
                </a:solidFill>
                <a:ea typeface="+mn-lt"/>
                <a:cs typeface="+mn-lt"/>
              </a:rPr>
              <a:t> </a:t>
            </a:r>
          </a:p>
          <a:p>
            <a:pPr>
              <a:spcAft>
                <a:spcPts val="500"/>
              </a:spcAft>
            </a:pPr>
            <a:endParaRPr lang="en-US" sz="2400" i="1"/>
          </a:p>
          <a:p>
            <a:pPr>
              <a:spcAft>
                <a:spcPts val="500"/>
              </a:spcAft>
            </a:pPr>
            <a:r>
              <a:rPr lang="en-US" sz="2400" i="1"/>
              <a:t>Indexed by Relative Distance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043B-0ECA-35BD-6B5B-27ABFCE8F707}"/>
              </a:ext>
            </a:extLst>
          </p:cNvPr>
          <p:cNvSpPr txBox="1"/>
          <p:nvPr/>
        </p:nvSpPr>
        <p:spPr>
          <a:xfrm>
            <a:off x="7320988" y="1329249"/>
            <a:ext cx="351112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Poppins SemiBold"/>
              </a:rPr>
              <a:t>8 Selected Metrics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6473AC-730D-01E2-94D1-7707A629DECF}"/>
              </a:ext>
            </a:extLst>
          </p:cNvPr>
          <p:cNvSpPr/>
          <p:nvPr/>
        </p:nvSpPr>
        <p:spPr>
          <a:xfrm>
            <a:off x="5894534" y="2407672"/>
            <a:ext cx="1107439" cy="243840"/>
          </a:xfrm>
          <a:prstGeom prst="rightArrow">
            <a:avLst/>
          </a:prstGeom>
          <a:solidFill>
            <a:srgbClr val="E60000"/>
          </a:solidFill>
          <a:ln w="57150">
            <a:solidFill>
              <a:srgbClr val="E6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8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EDAF-11CC-ADE3-3DC7-58706B6D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394F49C-F75B-5B41-8615-6E09B3222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100000" flipH="1">
            <a:off x="8751340" y="3125967"/>
            <a:ext cx="5321542" cy="5036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9A4BB5-E9FE-C2AC-1AAF-2A5B6FAD1C5B}"/>
              </a:ext>
            </a:extLst>
          </p:cNvPr>
          <p:cNvSpPr txBox="1"/>
          <p:nvPr/>
        </p:nvSpPr>
        <p:spPr>
          <a:xfrm>
            <a:off x="471435" y="164336"/>
            <a:ext cx="5939447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Data Preprocessing</a:t>
            </a:r>
            <a:endParaRPr lang="en-US" sz="4500" b="1" i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1575F-A481-B9E4-FBD7-54E7D0296C34}"/>
              </a:ext>
            </a:extLst>
          </p:cNvPr>
          <p:cNvSpPr txBox="1"/>
          <p:nvPr/>
        </p:nvSpPr>
        <p:spPr>
          <a:xfrm>
            <a:off x="475874" y="1145459"/>
            <a:ext cx="11236677" cy="5924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30000"/>
              </a:lnSpc>
            </a:pPr>
            <a:r>
              <a:rPr lang="en-US" sz="2100">
                <a:latin typeface="Poppins Medium"/>
                <a:cs typeface="Poppins Medium"/>
              </a:rPr>
              <a:t>Data Reindexing</a:t>
            </a:r>
            <a:endParaRPr lang="en-US"/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Aligned all lap data to track distance</a:t>
            </a:r>
            <a:endParaRPr lang="en-US">
              <a:latin typeface="Aptos" panose="02110004020202020204"/>
              <a:cs typeface="Poppins 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Interpolated from existing data</a:t>
            </a:r>
            <a:endParaRPr lang="en-US"/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Grid of 500 points per lap</a:t>
            </a:r>
          </a:p>
          <a:p>
            <a:pPr>
              <a:lnSpc>
                <a:spcPct val="130000"/>
              </a:lnSpc>
            </a:pPr>
            <a:endParaRPr lang="en-US" sz="1000">
              <a:latin typeface="Poppins Medium"/>
              <a:cs typeface="Poppins Medium"/>
            </a:endParaRPr>
          </a:p>
          <a:p>
            <a:pPr>
              <a:lnSpc>
                <a:spcPct val="130000"/>
              </a:lnSpc>
            </a:pPr>
            <a:r>
              <a:rPr lang="en-US" sz="2100">
                <a:latin typeface="Poppins Medium"/>
                <a:cs typeface="Poppins Medium"/>
              </a:rPr>
              <a:t>Data Normalization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Scaled all telemetry metrics to a [0, 1] range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Applied a 5-lap rolling window for local min-max normalization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Removed mechanical bias from faster / slower cars</a:t>
            </a:r>
          </a:p>
          <a:p>
            <a:pPr>
              <a:lnSpc>
                <a:spcPct val="130000"/>
              </a:lnSpc>
            </a:pPr>
            <a:endParaRPr lang="en-US" sz="1000">
              <a:latin typeface="Poppins Medium"/>
              <a:cs typeface="Poppins Medium"/>
            </a:endParaRPr>
          </a:p>
          <a:p>
            <a:pPr>
              <a:lnSpc>
                <a:spcPct val="130000"/>
              </a:lnSpc>
            </a:pPr>
            <a:r>
              <a:rPr lang="en-US" sz="2100">
                <a:latin typeface="Poppins Medium"/>
                <a:cs typeface="Poppins Medium"/>
              </a:rPr>
              <a:t>Outlier Detection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Dropped laps with low average speed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Used a 1.5 x IQR for a lower bound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lang="en-US" sz="2100">
                <a:latin typeface="Poppins Medium"/>
                <a:cs typeface="Poppins Medium"/>
              </a:rPr>
              <a:t>Detected pit laps, caution laps, laps with strange traffic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endParaRPr lang="en-US" sz="2100">
              <a:latin typeface="Poppins Medium"/>
              <a:cs typeface="Poppins Medium"/>
            </a:endParaRPr>
          </a:p>
        </p:txBody>
      </p:sp>
      <p:sp>
        <p:nvSpPr>
          <p:cNvPr id="6" name="Graphic 9">
            <a:extLst>
              <a:ext uri="{FF2B5EF4-FFF2-40B4-BE49-F238E27FC236}">
                <a16:creationId xmlns:a16="http://schemas.microsoft.com/office/drawing/2014/main" id="{5E155C4F-7611-1123-ACA8-4CA0D4DC3F39}"/>
              </a:ext>
            </a:extLst>
          </p:cNvPr>
          <p:cNvSpPr/>
          <p:nvPr/>
        </p:nvSpPr>
        <p:spPr>
          <a:xfrm>
            <a:off x="7211909" y="772536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2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0BC9-4D3C-C6BA-27FC-E184EB3F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B2D8C56-8F2E-38C0-ED60-F10E2F5DF971}"/>
              </a:ext>
            </a:extLst>
          </p:cNvPr>
          <p:cNvSpPr txBox="1"/>
          <p:nvPr/>
        </p:nvSpPr>
        <p:spPr>
          <a:xfrm>
            <a:off x="1223095" y="161076"/>
            <a:ext cx="974347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000" b="1">
                <a:solidFill>
                  <a:srgbClr val="FF0000"/>
                </a:solidFill>
                <a:latin typeface="Poppins SemiBold"/>
                <a:cs typeface="Poppins SemiBold"/>
              </a:rPr>
              <a:t>Dimensionality Reduction (PCA)</a:t>
            </a:r>
            <a:r>
              <a:rPr lang="en-IN" sz="4500" b="1">
                <a:solidFill>
                  <a:srgbClr val="FF0000"/>
                </a:solidFill>
                <a:latin typeface="Poppins SemiBold"/>
                <a:cs typeface="Poppins SemiBold"/>
              </a:rPr>
              <a:t> </a:t>
            </a:r>
          </a:p>
        </p:txBody>
      </p:sp>
      <p:pic>
        <p:nvPicPr>
          <p:cNvPr id="2" name="Picture 1" descr="A chart of a driver cluster distribution&#10;&#10;AI-generated content may be incorrect.">
            <a:extLst>
              <a:ext uri="{FF2B5EF4-FFF2-40B4-BE49-F238E27FC236}">
                <a16:creationId xmlns:a16="http://schemas.microsoft.com/office/drawing/2014/main" id="{CFD06073-54F6-D583-1149-5B56D9E1E3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0628" y="1829029"/>
            <a:ext cx="5980253" cy="3187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FD3165-9AA2-5333-0AF3-F7D0374F1A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80" y="1824207"/>
            <a:ext cx="5970608" cy="31789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A5C02C-67FE-287C-9019-A3E1D255446B}"/>
              </a:ext>
            </a:extLst>
          </p:cNvPr>
          <p:cNvSpPr txBox="1"/>
          <p:nvPr/>
        </p:nvSpPr>
        <p:spPr>
          <a:xfrm>
            <a:off x="1836044" y="5189363"/>
            <a:ext cx="22931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latin typeface="Poppins Medium"/>
                <a:cs typeface="Poppins Medium"/>
              </a:rPr>
              <a:t>Without PCA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596BE7-FE9D-4395-1AB3-502FA79A5B1E}"/>
              </a:ext>
            </a:extLst>
          </p:cNvPr>
          <p:cNvSpPr txBox="1"/>
          <p:nvPr/>
        </p:nvSpPr>
        <p:spPr>
          <a:xfrm>
            <a:off x="8057436" y="5189362"/>
            <a:ext cx="22931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latin typeface="Poppins Medium"/>
                <a:cs typeface="Poppins Medium"/>
              </a:rPr>
              <a:t>With PCA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9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0DC3-9D5E-D6AE-014A-0D00EF6A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4D62A-846B-584E-5743-E933F778F3BA}"/>
              </a:ext>
            </a:extLst>
          </p:cNvPr>
          <p:cNvSpPr txBox="1"/>
          <p:nvPr/>
        </p:nvSpPr>
        <p:spPr>
          <a:xfrm>
            <a:off x="3979" y="3179729"/>
            <a:ext cx="1217781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0000">
                <a:solidFill>
                  <a:srgbClr val="FF0000"/>
                </a:solidFill>
                <a:latin typeface="Poppins SemiBold"/>
                <a:cs typeface="Poppins SemiBold"/>
              </a:rPr>
              <a:t>Clustering</a:t>
            </a: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48D6EFFA-0AF6-1399-BEBF-F359BB9599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0A3CBD80-D5EC-7034-D823-41CAE73B00EB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625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1945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FF0000"/>
                </a:solidFill>
                <a:latin typeface="Poppins SemiBold"/>
                <a:ea typeface="Arial Black" pitchFamily="34" charset="-122"/>
                <a:cs typeface="Poppins SemiBold"/>
              </a:rPr>
              <a:t>Clustering Algorithm Selection</a:t>
            </a:r>
            <a:endParaRPr lang="en-US" sz="4500">
              <a:solidFill>
                <a:srgbClr val="FF0000"/>
              </a:solidFill>
              <a:latin typeface="Poppins SemiBold"/>
              <a:cs typeface="Poppins Semi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060704"/>
            <a:ext cx="11216640" cy="487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" name="Text 2"/>
          <p:cNvSpPr/>
          <p:nvPr/>
        </p:nvSpPr>
        <p:spPr>
          <a:xfrm>
            <a:off x="487679" y="6382955"/>
            <a:ext cx="11205597" cy="476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>
                <a:solidFill>
                  <a:schemeClr val="bg2">
                    <a:lumMod val="49000"/>
                  </a:schemeClr>
                </a:solidFill>
                <a:ea typeface="Arial" pitchFamily="34" charset="-122"/>
                <a:cs typeface="Arial"/>
              </a:rPr>
              <a:t>Four algorithms evaluated — K-Means selected for performance and interpretability</a:t>
            </a:r>
            <a:endParaRPr lang="en-US" sz="1400">
              <a:solidFill>
                <a:schemeClr val="bg2">
                  <a:lumMod val="49000"/>
                </a:schemeClr>
              </a:solidFill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621536"/>
            <a:ext cx="2682240" cy="4693920"/>
          </a:xfrm>
          <a:prstGeom prst="rect">
            <a:avLst/>
          </a:prstGeom>
          <a:solidFill>
            <a:srgbClr val="200000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6" name="Shape 4"/>
          <p:cNvSpPr/>
          <p:nvPr/>
        </p:nvSpPr>
        <p:spPr>
          <a:xfrm>
            <a:off x="487680" y="1621536"/>
            <a:ext cx="26822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33984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Arial Black" pitchFamily="34" charset="-122"/>
                <a:cs typeface="Arial Black" pitchFamily="34" charset="-120"/>
              </a:rPr>
              <a:t>K-Means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" y="2255520"/>
            <a:ext cx="2389632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9" name="Text 7"/>
          <p:cNvSpPr/>
          <p:nvPr/>
        </p:nvSpPr>
        <p:spPr>
          <a:xfrm>
            <a:off x="633984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SELECTED</a:t>
            </a:r>
            <a:endParaRPr lang="en-US" sz="1333"/>
          </a:p>
        </p:txBody>
      </p:sp>
      <p:sp>
        <p:nvSpPr>
          <p:cNvPr id="10" name="Text 8"/>
          <p:cNvSpPr/>
          <p:nvPr/>
        </p:nvSpPr>
        <p:spPr>
          <a:xfrm>
            <a:off x="633984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11" name="Text 9"/>
          <p:cNvSpPr/>
          <p:nvPr/>
        </p:nvSpPr>
        <p:spPr>
          <a:xfrm>
            <a:off x="670560" y="2926080"/>
            <a:ext cx="2353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00">
                <a:solidFill>
                  <a:srgbClr val="CCCCCC"/>
                </a:solidFill>
                <a:ea typeface="Arial" pitchFamily="34" charset="-122"/>
                <a:cs typeface="Arial"/>
              </a:rPr>
              <a:t>Fast &amp; scalable to 18M+ records</a:t>
            </a:r>
            <a:endParaRPr lang="en-US" sz="1300">
              <a:cs typeface="Arial"/>
            </a:endParaRPr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Works well after PCA reduction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Easy to tune cluster count (k)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691000" y="4262282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13" name="Text 11"/>
          <p:cNvSpPr/>
          <p:nvPr/>
        </p:nvSpPr>
        <p:spPr>
          <a:xfrm>
            <a:off x="633984" y="4571625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Requires pre-specifying k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Assumes convex clusters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487680" y="5852160"/>
            <a:ext cx="2682240" cy="463296"/>
          </a:xfrm>
          <a:prstGeom prst="rect">
            <a:avLst/>
          </a:prstGeom>
          <a:solidFill>
            <a:srgbClr val="35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585216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rgbClr val="FF9999"/>
                </a:solidFill>
                <a:ea typeface="Arial" pitchFamily="34" charset="-122"/>
                <a:cs typeface="Arial"/>
              </a:rPr>
              <a:t>Silhouette: 0.0653  |  Davies-Bouldin: 2.61</a:t>
            </a:r>
            <a:endParaRPr lang="en-US" sz="1300" b="1">
              <a:cs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28416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3328416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8" name="Text 16"/>
          <p:cNvSpPr/>
          <p:nvPr/>
        </p:nvSpPr>
        <p:spPr>
          <a:xfrm>
            <a:off x="3474720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Hierarchical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0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0" name="Text 18"/>
          <p:cNvSpPr/>
          <p:nvPr/>
        </p:nvSpPr>
        <p:spPr>
          <a:xfrm>
            <a:off x="3474720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21" name="Text 19"/>
          <p:cNvSpPr/>
          <p:nvPr/>
        </p:nvSpPr>
        <p:spPr>
          <a:xfrm>
            <a:off x="3474720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3511296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No need to pre-specify k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Dendrogram reveals structure</a:t>
            </a:r>
            <a:endParaRPr lang="en-US" sz="1333"/>
          </a:p>
        </p:txBody>
      </p:sp>
      <p:sp>
        <p:nvSpPr>
          <p:cNvPr id="23" name="Text 21"/>
          <p:cNvSpPr/>
          <p:nvPr/>
        </p:nvSpPr>
        <p:spPr>
          <a:xfrm>
            <a:off x="3474720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3470656" y="4053840"/>
            <a:ext cx="239369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O(n²) memory — too slow for 18M+ records</a:t>
            </a:r>
            <a:endParaRPr lang="en-US" sz="1333"/>
          </a:p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Cannot scale to full 2025 season</a:t>
            </a:r>
          </a:p>
          <a:p>
            <a:pPr marL="456565" indent="-456565">
              <a:buSzPct val="100000"/>
              <a:buChar char="•"/>
            </a:pPr>
            <a:r>
              <a:rPr lang="en-US" sz="1300">
                <a:solidFill>
                  <a:srgbClr val="CCCCCC"/>
                </a:solidFill>
                <a:cs typeface="Arial"/>
              </a:rPr>
              <a:t>Works best on smaller data sets</a:t>
            </a:r>
          </a:p>
        </p:txBody>
      </p:sp>
      <p:sp>
        <p:nvSpPr>
          <p:cNvPr id="25" name="Shape 23"/>
          <p:cNvSpPr/>
          <p:nvPr/>
        </p:nvSpPr>
        <p:spPr>
          <a:xfrm>
            <a:off x="3328416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6" name="Text 24"/>
          <p:cNvSpPr/>
          <p:nvPr/>
        </p:nvSpPr>
        <p:spPr>
          <a:xfrm>
            <a:off x="3425952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memory constraint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69152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8" name="Shape 26"/>
          <p:cNvSpPr/>
          <p:nvPr/>
        </p:nvSpPr>
        <p:spPr>
          <a:xfrm>
            <a:off x="6169152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6315456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Gaussian</a:t>
            </a:r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15456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1" name="Text 29"/>
          <p:cNvSpPr/>
          <p:nvPr/>
        </p:nvSpPr>
        <p:spPr>
          <a:xfrm>
            <a:off x="6315456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32" name="Text 30"/>
          <p:cNvSpPr/>
          <p:nvPr/>
        </p:nvSpPr>
        <p:spPr>
          <a:xfrm>
            <a:off x="6315456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33" name="Text 31"/>
          <p:cNvSpPr/>
          <p:nvPr/>
        </p:nvSpPr>
        <p:spPr>
          <a:xfrm>
            <a:off x="6352032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Soft/probabilistic assignments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Handles elliptical clusters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6315456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35" name="Text 33"/>
          <p:cNvSpPr/>
          <p:nvPr/>
        </p:nvSpPr>
        <p:spPr>
          <a:xfrm>
            <a:off x="6352032" y="4023360"/>
            <a:ext cx="2353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Assumes Gaussian distributions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Unstable on high-dim PCA space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Higher compute cost</a:t>
            </a:r>
            <a:endParaRPr lang="en-US" sz="1333"/>
          </a:p>
        </p:txBody>
      </p:sp>
      <p:sp>
        <p:nvSpPr>
          <p:cNvPr id="36" name="Shape 34"/>
          <p:cNvSpPr/>
          <p:nvPr/>
        </p:nvSpPr>
        <p:spPr>
          <a:xfrm>
            <a:off x="6169152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7" name="Text 35"/>
          <p:cNvSpPr/>
          <p:nvPr/>
        </p:nvSpPr>
        <p:spPr>
          <a:xfrm>
            <a:off x="6266688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distribution assumption mismatch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009888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9" name="Shape 37"/>
          <p:cNvSpPr/>
          <p:nvPr/>
        </p:nvSpPr>
        <p:spPr>
          <a:xfrm>
            <a:off x="9009888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0" name="Text 38"/>
          <p:cNvSpPr/>
          <p:nvPr/>
        </p:nvSpPr>
        <p:spPr>
          <a:xfrm>
            <a:off x="9156192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DBSCAN</a:t>
            </a:r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56192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2" name="Text 40"/>
          <p:cNvSpPr/>
          <p:nvPr/>
        </p:nvSpPr>
        <p:spPr>
          <a:xfrm>
            <a:off x="9156192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43" name="Text 41"/>
          <p:cNvSpPr/>
          <p:nvPr/>
        </p:nvSpPr>
        <p:spPr>
          <a:xfrm>
            <a:off x="9156192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44" name="Text 42"/>
          <p:cNvSpPr/>
          <p:nvPr/>
        </p:nvSpPr>
        <p:spPr>
          <a:xfrm>
            <a:off x="9192768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No cluster count needed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Auto-detects noise/outliers</a:t>
            </a:r>
            <a:endParaRPr lang="en-US" sz="1333"/>
          </a:p>
        </p:txBody>
      </p:sp>
      <p:sp>
        <p:nvSpPr>
          <p:cNvPr id="45" name="Text 43"/>
          <p:cNvSpPr/>
          <p:nvPr/>
        </p:nvSpPr>
        <p:spPr>
          <a:xfrm>
            <a:off x="9156192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46" name="Text 44"/>
          <p:cNvSpPr/>
          <p:nvPr/>
        </p:nvSpPr>
        <p:spPr>
          <a:xfrm>
            <a:off x="9152128" y="4033520"/>
            <a:ext cx="2393696" cy="122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Struggles with varying density</a:t>
            </a:r>
            <a:endParaRPr lang="en-US" sz="1333"/>
          </a:p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ε tuning sensitive — poor cluster consistency across tracks</a:t>
            </a:r>
            <a:endParaRPr lang="en-US" sz="1333"/>
          </a:p>
        </p:txBody>
      </p:sp>
      <p:sp>
        <p:nvSpPr>
          <p:cNvPr id="47" name="Shape 45"/>
          <p:cNvSpPr/>
          <p:nvPr/>
        </p:nvSpPr>
        <p:spPr>
          <a:xfrm>
            <a:off x="9009888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8" name="Text 46"/>
          <p:cNvSpPr/>
          <p:nvPr/>
        </p:nvSpPr>
        <p:spPr>
          <a:xfrm>
            <a:off x="9107424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inconsistent clusters per race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2821" y="1202767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2">
                    <a:lumMod val="49000"/>
                  </a:schemeClr>
                </a:solidFill>
              </a:rPr>
              <a:t>These options are the most common unsupervised machine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007343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EC204-E5E0-BF71-792F-A86D61DA1A62}"/>
              </a:ext>
            </a:extLst>
          </p:cNvPr>
          <p:cNvSpPr txBox="1"/>
          <p:nvPr/>
        </p:nvSpPr>
        <p:spPr>
          <a:xfrm>
            <a:off x="0" y="-13978"/>
            <a:ext cx="12192000" cy="687197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87680" y="21945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50" b="1" dirty="0">
                <a:solidFill>
                  <a:schemeClr val="bg1"/>
                </a:solidFill>
                <a:latin typeface="Poppins SemiBold"/>
                <a:cs typeface="Poppins SemiBold"/>
              </a:rPr>
              <a:t>K-Means Clustering</a:t>
            </a:r>
          </a:p>
        </p:txBody>
      </p:sp>
      <p:sp>
        <p:nvSpPr>
          <p:cNvPr id="14" name="Text 9"/>
          <p:cNvSpPr/>
          <p:nvPr/>
        </p:nvSpPr>
        <p:spPr>
          <a:xfrm>
            <a:off x="7971212" y="471094"/>
            <a:ext cx="2730636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i="1" dirty="0">
                <a:solidFill>
                  <a:schemeClr val="bg1"/>
                </a:solidFill>
                <a:latin typeface="Aptos"/>
                <a:cs typeface="Arial"/>
              </a:rPr>
              <a:t>Cluster Representation Examples</a:t>
            </a:r>
          </a:p>
        </p:txBody>
      </p:sp>
      <p:sp>
        <p:nvSpPr>
          <p:cNvPr id="15" name="Shape 10"/>
          <p:cNvSpPr/>
          <p:nvPr/>
        </p:nvSpPr>
        <p:spPr>
          <a:xfrm>
            <a:off x="7995224" y="1333322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Shape 11"/>
          <p:cNvSpPr/>
          <p:nvPr/>
        </p:nvSpPr>
        <p:spPr>
          <a:xfrm>
            <a:off x="7995224" y="1333322"/>
            <a:ext cx="85344" cy="731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Text 12"/>
          <p:cNvSpPr/>
          <p:nvPr/>
        </p:nvSpPr>
        <p:spPr>
          <a:xfrm>
            <a:off x="8165912" y="1382090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1</a:t>
            </a:r>
            <a:endParaRPr lang="en-US" sz="1067">
              <a:latin typeface="Apto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65912" y="160154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CC0000"/>
                </a:solidFill>
                <a:latin typeface="Aptos"/>
                <a:ea typeface="Arial" pitchFamily="34" charset="-122"/>
                <a:cs typeface="Arial" pitchFamily="34" charset="-120"/>
              </a:rPr>
              <a:t>High Aggression</a:t>
            </a:r>
            <a:endParaRPr lang="en-US" sz="1067">
              <a:latin typeface="Apto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165912" y="180881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High RPM, throttle, speed — peak-performance laps</a:t>
            </a:r>
            <a:endParaRPr lang="en-US" sz="933">
              <a:latin typeface="Apto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995224" y="2235530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Shape 16"/>
          <p:cNvSpPr/>
          <p:nvPr/>
        </p:nvSpPr>
        <p:spPr>
          <a:xfrm>
            <a:off x="7995224" y="2235530"/>
            <a:ext cx="85344" cy="731520"/>
          </a:xfrm>
          <a:prstGeom prst="rect">
            <a:avLst/>
          </a:prstGeom>
          <a:solidFill>
            <a:srgbClr val="DD5500"/>
          </a:solidFill>
          <a:ln w="12700">
            <a:solidFill>
              <a:srgbClr val="DD55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17"/>
          <p:cNvSpPr/>
          <p:nvPr/>
        </p:nvSpPr>
        <p:spPr>
          <a:xfrm>
            <a:off x="8165912" y="2284298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2</a:t>
            </a:r>
            <a:endParaRPr lang="en-US" sz="1067">
              <a:latin typeface="Apto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65912" y="249254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DD5500"/>
                </a:solidFill>
                <a:latin typeface="Aptos"/>
                <a:ea typeface="Arial" pitchFamily="34" charset="-122"/>
                <a:cs typeface="Arial" pitchFamily="34" charset="-120"/>
              </a:rPr>
              <a:t>Controlled Push</a:t>
            </a:r>
            <a:endParaRPr lang="en-US" sz="1067">
              <a:latin typeface="Apto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165912" y="271101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Elevated throttle, measured braking — raceable pace</a:t>
            </a:r>
            <a:endParaRPr lang="en-US" sz="933">
              <a:latin typeface="Apto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995224" y="3137738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6" name="Shape 21"/>
          <p:cNvSpPr/>
          <p:nvPr/>
        </p:nvSpPr>
        <p:spPr>
          <a:xfrm>
            <a:off x="7995224" y="3137738"/>
            <a:ext cx="85344" cy="731520"/>
          </a:xfrm>
          <a:prstGeom prst="rect">
            <a:avLst/>
          </a:prstGeom>
          <a:solidFill>
            <a:srgbClr val="DDAA00"/>
          </a:solidFill>
          <a:ln w="12700">
            <a:solidFill>
              <a:srgbClr val="DDAA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Text 22"/>
          <p:cNvSpPr/>
          <p:nvPr/>
        </p:nvSpPr>
        <p:spPr>
          <a:xfrm>
            <a:off x="8165912" y="3186506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3</a:t>
            </a:r>
            <a:endParaRPr lang="en-US" sz="1067">
              <a:latin typeface="Apto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165912" y="340596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DDAA00"/>
                </a:solidFill>
                <a:latin typeface="Aptos"/>
                <a:ea typeface="Arial" pitchFamily="34" charset="-122"/>
                <a:cs typeface="Arial" pitchFamily="34" charset="-120"/>
              </a:rPr>
              <a:t>Balanced</a:t>
            </a:r>
            <a:endParaRPr lang="en-US" sz="1067">
              <a:latin typeface="Apto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165912" y="361322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Avg. across all metrics — representative race lap</a:t>
            </a:r>
            <a:endParaRPr lang="en-US" sz="933">
              <a:latin typeface="Aptos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7995224" y="4039946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1" name="Shape 26"/>
          <p:cNvSpPr/>
          <p:nvPr/>
        </p:nvSpPr>
        <p:spPr>
          <a:xfrm>
            <a:off x="7995224" y="4039946"/>
            <a:ext cx="85344" cy="731520"/>
          </a:xfrm>
          <a:prstGeom prst="rect">
            <a:avLst/>
          </a:prstGeom>
          <a:solidFill>
            <a:srgbClr val="558844"/>
          </a:solidFill>
          <a:ln w="12700">
            <a:solidFill>
              <a:srgbClr val="5588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2" name="Text 27"/>
          <p:cNvSpPr/>
          <p:nvPr/>
        </p:nvSpPr>
        <p:spPr>
          <a:xfrm>
            <a:off x="8165912" y="4088714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4</a:t>
            </a:r>
            <a:endParaRPr lang="en-US" sz="1067">
              <a:latin typeface="Aptos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165912" y="430817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558844"/>
                </a:solidFill>
                <a:latin typeface="Aptos"/>
                <a:ea typeface="Arial" pitchFamily="34" charset="-122"/>
                <a:cs typeface="Arial" pitchFamily="34" charset="-120"/>
              </a:rPr>
              <a:t>Cautious</a:t>
            </a:r>
            <a:endParaRPr lang="en-US" sz="1067">
              <a:latin typeface="Apto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165912" y="451543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Lower throttle/speed — caution laps or degradation</a:t>
            </a:r>
            <a:endParaRPr lang="en-US" sz="933">
              <a:latin typeface="Aptos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7995224" y="4942154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6" name="Shape 31"/>
          <p:cNvSpPr/>
          <p:nvPr/>
        </p:nvSpPr>
        <p:spPr>
          <a:xfrm>
            <a:off x="7995224" y="4942154"/>
            <a:ext cx="85344" cy="731520"/>
          </a:xfrm>
          <a:prstGeom prst="rect">
            <a:avLst/>
          </a:prstGeom>
          <a:solidFill>
            <a:srgbClr val="446688"/>
          </a:solidFill>
          <a:ln w="12700">
            <a:solidFill>
              <a:srgbClr val="4466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7" name="Text 32"/>
          <p:cNvSpPr/>
          <p:nvPr/>
        </p:nvSpPr>
        <p:spPr>
          <a:xfrm>
            <a:off x="8165912" y="4990922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5</a:t>
            </a:r>
            <a:endParaRPr lang="en-US" sz="1067">
              <a:latin typeface="Apto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165912" y="521037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446688"/>
                </a:solidFill>
                <a:latin typeface="Aptos"/>
                <a:ea typeface="Arial" pitchFamily="34" charset="-122"/>
                <a:cs typeface="Arial" pitchFamily="34" charset="-120"/>
              </a:rPr>
              <a:t>Conservation</a:t>
            </a:r>
            <a:endParaRPr lang="en-US" sz="1067">
              <a:latin typeface="Aptos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8165912" y="541764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Low RPM, heavy coasting — tire/fuel management</a:t>
            </a:r>
            <a:endParaRPr lang="en-US" sz="933"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8EA093-33D8-648F-9654-25B299A8C8BE}"/>
              </a:ext>
            </a:extLst>
          </p:cNvPr>
          <p:cNvSpPr txBox="1"/>
          <p:nvPr/>
        </p:nvSpPr>
        <p:spPr>
          <a:xfrm>
            <a:off x="385060" y="1072896"/>
            <a:ext cx="6096000" cy="337637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Cluster Evaluation Methods:</a:t>
            </a:r>
            <a:endParaRPr lang="en-US" sz="1800" b="1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Elbow Method – identifies diminishing returns in cluster separation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Silhouette Score – measures cluster cohesion vs separation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Davies-Bouldin Index – evaluates cluster similarity (lower is better)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1E3410-398D-402F-182F-1AD0CD530A50}"/>
              </a:ext>
            </a:extLst>
          </p:cNvPr>
          <p:cNvSpPr txBox="1"/>
          <p:nvPr/>
        </p:nvSpPr>
        <p:spPr>
          <a:xfrm>
            <a:off x="385060" y="4261260"/>
            <a:ext cx="6096000" cy="236071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  <a:spcBef>
                <a:spcPts val="600"/>
              </a:spcBef>
            </a:pP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Our Findings after</a:t>
            </a:r>
            <a:r>
              <a:rPr lang="en-US" sz="1800" b="1" kern="1200" dirty="0">
                <a:solidFill>
                  <a:srgbClr val="FF0000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ptos"/>
              </a:rPr>
              <a:t>many</a:t>
            </a:r>
            <a:r>
              <a:rPr lang="en-US" b="1" dirty="0">
                <a:solidFill>
                  <a:srgbClr val="0070C0"/>
                </a:solidFill>
                <a:latin typeface="Aptos"/>
              </a:rPr>
              <a:t> </a:t>
            </a: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experimental models</a:t>
            </a:r>
            <a:endParaRPr lang="en-US" sz="1800" kern="1200" dirty="0">
              <a:solidFill>
                <a:schemeClr val="bg1"/>
              </a:solidFill>
              <a:latin typeface="Aptos"/>
              <a:ea typeface="+mn-ea"/>
              <a:cs typeface="+mn-cs"/>
            </a:endParaRP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K-Means at 6 clusters produced the most well-balanced clusters (~1-2 outlier groups per race)</a:t>
            </a: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Clusters can vary wildly depending on the track</a:t>
            </a: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Metrics can be misleading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D93FD-C41F-42A4-F997-3460980F4616}"/>
              </a:ext>
            </a:extLst>
          </p:cNvPr>
          <p:cNvSpPr txBox="1"/>
          <p:nvPr/>
        </p:nvSpPr>
        <p:spPr>
          <a:xfrm>
            <a:off x="6747411" y="5867333"/>
            <a:ext cx="5178238" cy="7076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1400" i="1" kern="1200" dirty="0">
                <a:solidFill>
                  <a:schemeClr val="bg1">
                    <a:lumMod val="75000"/>
                  </a:schemeClr>
                </a:solidFill>
                <a:latin typeface="Aptos"/>
                <a:ea typeface="+mn-ea"/>
                <a:cs typeface="+mn-cs"/>
              </a:rPr>
              <a:t>We leave it up to the user to explore </a:t>
            </a:r>
          </a:p>
          <a:p>
            <a:pPr algn="ctr" rtl="0">
              <a:lnSpc>
                <a:spcPct val="150000"/>
              </a:lnSpc>
            </a:pPr>
            <a:r>
              <a:rPr lang="en-US" sz="1400" i="1" kern="1200" dirty="0">
                <a:solidFill>
                  <a:schemeClr val="bg1">
                    <a:lumMod val="75000"/>
                  </a:schemeClr>
                </a:solidFill>
                <a:latin typeface="Aptos"/>
                <a:ea typeface="+mn-ea"/>
                <a:cs typeface="+mn-cs"/>
              </a:rPr>
              <a:t>the data and label the groups</a:t>
            </a:r>
            <a:endParaRPr lang="en-US" sz="14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48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89D9A-5FF0-3CF1-8ED6-C9A2FBFE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C8F40C-4536-0CB1-E420-839F1D1D73CA}"/>
              </a:ext>
            </a:extLst>
          </p:cNvPr>
          <p:cNvSpPr txBox="1"/>
          <p:nvPr/>
        </p:nvSpPr>
        <p:spPr>
          <a:xfrm>
            <a:off x="2423378" y="3040688"/>
            <a:ext cx="706584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0000">
                <a:solidFill>
                  <a:srgbClr val="FF0000"/>
                </a:solidFill>
                <a:latin typeface="Poppins SemiBold"/>
                <a:cs typeface="Poppins SemiBold"/>
              </a:rPr>
              <a:t>Front End</a:t>
            </a:r>
            <a:endParaRPr lang="en-US"/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0E62E725-E6B7-A5CF-196C-C11298F426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99F7BD81-4986-E216-F4B6-EBB9DA4CB89B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9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BBD0954-8C51-FFF8-4421-EE51D62B4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100000" flipH="1">
            <a:off x="9149160" y="3569940"/>
            <a:ext cx="5321542" cy="5036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407FDB-2EF4-74BF-01FA-9F0BF21D6FAF}"/>
              </a:ext>
            </a:extLst>
          </p:cNvPr>
          <p:cNvSpPr txBox="1"/>
          <p:nvPr/>
        </p:nvSpPr>
        <p:spPr>
          <a:xfrm>
            <a:off x="3306621" y="204976"/>
            <a:ext cx="5578771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Deployment Stack</a:t>
            </a:r>
            <a:endParaRPr lang="en-US" sz="4500" b="1" i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Graphic 27">
            <a:extLst>
              <a:ext uri="{FF2B5EF4-FFF2-40B4-BE49-F238E27FC236}">
                <a16:creationId xmlns:a16="http://schemas.microsoft.com/office/drawing/2014/main" id="{6BAA3F8A-AC76-2DC6-A9B1-B4ADC1767FFE}"/>
              </a:ext>
            </a:extLst>
          </p:cNvPr>
          <p:cNvSpPr/>
          <p:nvPr/>
        </p:nvSpPr>
        <p:spPr>
          <a:xfrm>
            <a:off x="-1423068" y="1472788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026" name="Picture 2" descr="What is EC2?">
            <a:extLst>
              <a:ext uri="{FF2B5EF4-FFF2-40B4-BE49-F238E27FC236}">
                <a16:creationId xmlns:a16="http://schemas.microsoft.com/office/drawing/2014/main" id="{AD7EE614-C7AC-CDF9-37DD-2C5C6693B8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26276" y="2298749"/>
            <a:ext cx="2693704" cy="369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kbun Review – Pros, Cons &amp; Alternative Domain Registrars">
            <a:extLst>
              <a:ext uri="{FF2B5EF4-FFF2-40B4-BE49-F238E27FC236}">
                <a16:creationId xmlns:a16="http://schemas.microsoft.com/office/drawing/2014/main" id="{C5A34ADE-F5F4-0B7F-DB1C-1837C66E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35" y="2384607"/>
            <a:ext cx="7620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ginx Consulting, Load Balancing &amp; High-Performance Web Server Solutions in  US &amp; India">
            <a:extLst>
              <a:ext uri="{FF2B5EF4-FFF2-40B4-BE49-F238E27FC236}">
                <a16:creationId xmlns:a16="http://schemas.microsoft.com/office/drawing/2014/main" id="{0C11BF14-9AF6-1B36-3DFD-A8303E68D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848" t="35446" r="10376" b="35810"/>
          <a:stretch>
            <a:fillRect/>
          </a:stretch>
        </p:blipFill>
        <p:spPr bwMode="auto">
          <a:xfrm>
            <a:off x="1791222" y="4745655"/>
            <a:ext cx="4797469" cy="11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4A1DD-40F7-9AF2-1A2F-D6F1DF0693E1}"/>
              </a:ext>
            </a:extLst>
          </p:cNvPr>
          <p:cNvSpPr txBox="1"/>
          <p:nvPr/>
        </p:nvSpPr>
        <p:spPr>
          <a:xfrm>
            <a:off x="2760945" y="1163385"/>
            <a:ext cx="6670110" cy="9029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30000"/>
              </a:lnSpc>
            </a:pPr>
            <a:r>
              <a:rPr lang="en-US" sz="2100">
                <a:latin typeface="Poppins Medium"/>
                <a:cs typeface="Poppins Medium"/>
              </a:rPr>
              <a:t>Accessed through a </a:t>
            </a:r>
            <a:r>
              <a:rPr lang="en-US" sz="2100" b="1" i="1" err="1">
                <a:latin typeface="Poppins Medium"/>
                <a:cs typeface="Poppins Medium"/>
              </a:rPr>
              <a:t>porkbun</a:t>
            </a:r>
            <a:r>
              <a:rPr lang="en-US" sz="2100">
                <a:latin typeface="Poppins Medium"/>
                <a:cs typeface="Poppins Medium"/>
              </a:rPr>
              <a:t> domain, served through </a:t>
            </a:r>
            <a:r>
              <a:rPr lang="en-US" sz="2100" b="1" i="1">
                <a:latin typeface="Poppins Medium"/>
                <a:cs typeface="Poppins Medium"/>
              </a:rPr>
              <a:t>NGINX</a:t>
            </a:r>
            <a:r>
              <a:rPr lang="en-US" sz="2100">
                <a:latin typeface="Poppins Medium"/>
                <a:cs typeface="Poppins Medium"/>
              </a:rPr>
              <a:t>, hosted on an </a:t>
            </a:r>
            <a:r>
              <a:rPr lang="en-US" sz="2100" b="1" i="1">
                <a:latin typeface="Poppins Medium"/>
                <a:cs typeface="Poppins Medium"/>
              </a:rPr>
              <a:t>AWS EC2 </a:t>
            </a:r>
            <a:r>
              <a:rPr lang="en-US" sz="2100">
                <a:latin typeface="Poppins Medium"/>
                <a:cs typeface="Poppins Medium"/>
              </a:rPr>
              <a:t>Instance.</a:t>
            </a:r>
          </a:p>
        </p:txBody>
      </p:sp>
    </p:spTree>
    <p:extLst>
      <p:ext uri="{BB962C8B-B14F-4D97-AF65-F5344CB8AC3E}">
        <p14:creationId xmlns:p14="http://schemas.microsoft.com/office/powerpoint/2010/main" val="2491893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9D45331-082C-23A0-E07A-9186E9B077D8}"/>
              </a:ext>
            </a:extLst>
          </p:cNvPr>
          <p:cNvSpPr/>
          <p:nvPr/>
        </p:nvSpPr>
        <p:spPr>
          <a:xfrm rot="540000">
            <a:off x="-1637065" y="5776801"/>
            <a:ext cx="14396285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3F45F-F9AF-3FF3-5617-E0E058B2A052}"/>
              </a:ext>
            </a:extLst>
          </p:cNvPr>
          <p:cNvSpPr txBox="1"/>
          <p:nvPr/>
        </p:nvSpPr>
        <p:spPr>
          <a:xfrm>
            <a:off x="168349" y="988394"/>
            <a:ext cx="207856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Track Selection</a:t>
            </a:r>
            <a:endParaRPr lang="en-US" sz="260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035E2-64EB-864C-138B-B2292994A602}"/>
              </a:ext>
            </a:extLst>
          </p:cNvPr>
          <p:cNvSpPr txBox="1"/>
          <p:nvPr/>
        </p:nvSpPr>
        <p:spPr>
          <a:xfrm>
            <a:off x="162906" y="102155"/>
            <a:ext cx="5598167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</a:rPr>
              <a:t>Use Cases </a:t>
            </a:r>
            <a:endParaRPr lang="en-US" sz="4500" b="1">
              <a:solidFill>
                <a:srgbClr val="FF0000"/>
              </a:solidFill>
              <a:latin typeface="Poppins SemiBold"/>
              <a:cs typeface="Poppins SemiBold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A869B-E210-9F2A-DFD3-C082B1FDA308}"/>
              </a:ext>
            </a:extLst>
          </p:cNvPr>
          <p:cNvSpPr txBox="1"/>
          <p:nvPr/>
        </p:nvSpPr>
        <p:spPr>
          <a:xfrm>
            <a:off x="8621807" y="977204"/>
            <a:ext cx="220182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Statistics     Exploration</a:t>
            </a:r>
            <a:endParaRPr lang="en-US" sz="260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E4091-FDB4-1C69-C04B-502417963B54}"/>
              </a:ext>
            </a:extLst>
          </p:cNvPr>
          <p:cNvSpPr txBox="1"/>
          <p:nvPr/>
        </p:nvSpPr>
        <p:spPr>
          <a:xfrm>
            <a:off x="3488537" y="988394"/>
            <a:ext cx="207856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Driver</a:t>
            </a:r>
            <a:endParaRPr lang="en-US" sz="2600">
              <a:solidFill>
                <a:srgbClr val="000000"/>
              </a:solidFill>
              <a:latin typeface="Aptos" panose="02110004020202020204"/>
            </a:endParaRPr>
          </a:p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Selection</a:t>
            </a:r>
            <a:endParaRPr lang="en-US" sz="2600"/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78F561-8229-E0DF-8FD9-52AD805259D5}"/>
              </a:ext>
            </a:extLst>
          </p:cNvPr>
          <p:cNvCxnSpPr/>
          <p:nvPr/>
        </p:nvCxnSpPr>
        <p:spPr>
          <a:xfrm>
            <a:off x="-846" y="877924"/>
            <a:ext cx="8067774" cy="2761"/>
          </a:xfrm>
          <a:prstGeom prst="straightConnector1">
            <a:avLst/>
          </a:prstGeom>
          <a:ln>
            <a:solidFill>
              <a:srgbClr val="E6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37EC7B-B048-D630-523F-89D3F995643A}"/>
              </a:ext>
            </a:extLst>
          </p:cNvPr>
          <p:cNvSpPr txBox="1"/>
          <p:nvPr/>
        </p:nvSpPr>
        <p:spPr>
          <a:xfrm>
            <a:off x="163965" y="2140830"/>
            <a:ext cx="3146678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ptos"/>
                <a:ea typeface="Calibri"/>
                <a:cs typeface="Calibri"/>
              </a:rPr>
              <a:t>Dropdown lists all </a:t>
            </a:r>
            <a:r>
              <a:rPr lang="en-US" sz="2000" b="1">
                <a:latin typeface="Aptos"/>
                <a:ea typeface="Calibri"/>
                <a:cs typeface="Calibri"/>
              </a:rPr>
              <a:t>24 </a:t>
            </a:r>
            <a:r>
              <a:rPr lang="en-US" sz="2000">
                <a:latin typeface="Aptos"/>
                <a:ea typeface="Calibri"/>
                <a:cs typeface="Calibri"/>
              </a:rPr>
              <a:t>circuits from the 2025 season.</a:t>
            </a:r>
            <a:endParaRPr lang="en-US"/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629C7-76B3-FC28-915D-DD55D9B58BAE}"/>
              </a:ext>
            </a:extLst>
          </p:cNvPr>
          <p:cNvSpPr txBox="1"/>
          <p:nvPr/>
        </p:nvSpPr>
        <p:spPr>
          <a:xfrm>
            <a:off x="3484153" y="2140830"/>
            <a:ext cx="404314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Click </a:t>
            </a:r>
            <a:r>
              <a:rPr lang="en-US" sz="2000">
                <a:ea typeface="Calibri"/>
                <a:cs typeface="Calibri"/>
              </a:rPr>
              <a:t>on a driver to view their metrics and make comparisons.</a:t>
            </a:r>
          </a:p>
          <a:p>
            <a:endParaRPr lang="en-US" sz="2000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E6AE5-8AE3-28FD-F808-E88742869CBF}"/>
              </a:ext>
            </a:extLst>
          </p:cNvPr>
          <p:cNvSpPr txBox="1"/>
          <p:nvPr/>
        </p:nvSpPr>
        <p:spPr>
          <a:xfrm>
            <a:off x="8066439" y="2143517"/>
            <a:ext cx="3697662" cy="1795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One pie chart per metric.</a:t>
            </a:r>
            <a:endParaRPr lang="en-US" i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500"/>
              </a:spcAft>
            </a:pPr>
            <a:r>
              <a:rPr lang="en-US" sz="1400" i="1">
                <a:solidFill>
                  <a:srgbClr val="000000"/>
                </a:solidFill>
                <a:ea typeface="+mn-lt"/>
                <a:cs typeface="+mn-lt"/>
              </a:rPr>
              <a:t>Throttle, RPM, Gear, Brake, Acceleration, etc.</a:t>
            </a:r>
            <a:endParaRPr lang="en-US" sz="1400" i="1"/>
          </a:p>
          <a:p>
            <a:pPr>
              <a:spcAft>
                <a:spcPts val="500"/>
              </a:spcAft>
            </a:pPr>
            <a:endParaRPr lang="en-US" sz="2000">
              <a:ea typeface="Calibri"/>
              <a:cs typeface="Calibri"/>
            </a:endParaRPr>
          </a:p>
          <a:p>
            <a:pPr>
              <a:spcAft>
                <a:spcPts val="500"/>
              </a:spcAft>
            </a:pPr>
            <a:r>
              <a:rPr lang="en-US" sz="2000">
                <a:latin typeface="Aptos"/>
                <a:ea typeface="Calibri"/>
                <a:cs typeface="Calibri"/>
              </a:rPr>
              <a:t>Radar Charts displaying</a:t>
            </a:r>
          </a:p>
          <a:p>
            <a:pPr>
              <a:spcAft>
                <a:spcPts val="500"/>
              </a:spcAft>
            </a:pPr>
            <a:r>
              <a:rPr lang="en-US" sz="2000" b="1">
                <a:latin typeface="Aptos"/>
                <a:ea typeface="Calibri"/>
                <a:cs typeface="Calibri"/>
              </a:rPr>
              <a:t>multivariate </a:t>
            </a:r>
            <a:r>
              <a:rPr lang="en-US" sz="2000">
                <a:latin typeface="Aptos"/>
                <a:ea typeface="Calibri"/>
                <a:cs typeface="Calibri"/>
              </a:rPr>
              <a:t>clustering results.</a:t>
            </a:r>
            <a:endParaRPr lang="en-US"/>
          </a:p>
        </p:txBody>
      </p:sp>
      <p:pic>
        <p:nvPicPr>
          <p:cNvPr id="18" name="Picture 17" descr="A group of red rectangular labels&#10;&#10;AI-generated content may be incorrect.">
            <a:extLst>
              <a:ext uri="{FF2B5EF4-FFF2-40B4-BE49-F238E27FC236}">
                <a16:creationId xmlns:a16="http://schemas.microsoft.com/office/drawing/2014/main" id="{CCC68543-8AED-CF84-66EE-241D00FCE7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687"/>
          <a:stretch>
            <a:fillRect/>
          </a:stretch>
        </p:blipFill>
        <p:spPr>
          <a:xfrm>
            <a:off x="3807510" y="2875649"/>
            <a:ext cx="3389818" cy="1346417"/>
          </a:xfrm>
          <a:prstGeom prst="rect">
            <a:avLst/>
          </a:prstGeom>
        </p:spPr>
      </p:pic>
      <p:pic>
        <p:nvPicPr>
          <p:cNvPr id="25" name="Picture 24" descr="A race car with black wheels&#10;&#10;AI-generated content may be incorrect.">
            <a:extLst>
              <a:ext uri="{FF2B5EF4-FFF2-40B4-BE49-F238E27FC236}">
                <a16:creationId xmlns:a16="http://schemas.microsoft.com/office/drawing/2014/main" id="{5F847466-20B1-6459-7218-354318668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 flipH="1">
            <a:off x="-176718" y="3563365"/>
            <a:ext cx="6187166" cy="3772132"/>
          </a:xfrm>
          <a:prstGeom prst="rect">
            <a:avLst/>
          </a:prstGeom>
          <a:effectLst>
            <a:outerShdw blurRad="165100" dist="165100" dir="8880000">
              <a:srgbClr val="000000">
                <a:alpha val="59000"/>
              </a:srgbClr>
            </a:outerShdw>
          </a:effectLst>
        </p:spPr>
      </p:pic>
      <p:pic>
        <p:nvPicPr>
          <p:cNvPr id="26" name="Picture 25" descr="A diagram of a spider&#10;&#10;AI-generated content may be incorrect.">
            <a:extLst>
              <a:ext uri="{FF2B5EF4-FFF2-40B4-BE49-F238E27FC236}">
                <a16:creationId xmlns:a16="http://schemas.microsoft.com/office/drawing/2014/main" id="{69E45401-F470-9A65-C2EB-69E5CE5D839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4"/>
          <a:stretch>
            <a:fillRect/>
          </a:stretch>
        </p:blipFill>
        <p:spPr>
          <a:xfrm>
            <a:off x="7622400" y="4318577"/>
            <a:ext cx="4573088" cy="22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87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407FDB-2EF4-74BF-01FA-9F0BF21D6FAF}"/>
              </a:ext>
            </a:extLst>
          </p:cNvPr>
          <p:cNvSpPr txBox="1"/>
          <p:nvPr/>
        </p:nvSpPr>
        <p:spPr>
          <a:xfrm>
            <a:off x="3814469" y="142953"/>
            <a:ext cx="45630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Website</a:t>
            </a:r>
            <a:endParaRPr lang="en-US" sz="4500" b="1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5BED4-C76D-728E-738F-16F966F1EFBE}"/>
              </a:ext>
            </a:extLst>
          </p:cNvPr>
          <p:cNvSpPr txBox="1"/>
          <p:nvPr/>
        </p:nvSpPr>
        <p:spPr>
          <a:xfrm>
            <a:off x="3634982" y="1448325"/>
            <a:ext cx="51270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Poppins Medium"/>
                <a:cs typeface="Poppins Medium"/>
              </a:rPr>
              <a:t>Insert technical info on front end</a:t>
            </a:r>
            <a:endParaRPr lang="en-US" b="0" i="0">
              <a:solidFill>
                <a:srgbClr val="000000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7910B6-4C12-723C-289A-6B4C2E0293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667" y="928148"/>
            <a:ext cx="10692191" cy="5582276"/>
          </a:xfrm>
          <a:prstGeom prst="rect">
            <a:avLst/>
          </a:prstGeom>
        </p:spPr>
      </p:pic>
      <p:sp>
        <p:nvSpPr>
          <p:cNvPr id="6" name="Graphic 9">
            <a:extLst>
              <a:ext uri="{FF2B5EF4-FFF2-40B4-BE49-F238E27FC236}">
                <a16:creationId xmlns:a16="http://schemas.microsoft.com/office/drawing/2014/main" id="{268F6CB9-FA85-8278-EC90-7C6F51AB929F}"/>
              </a:ext>
            </a:extLst>
          </p:cNvPr>
          <p:cNvSpPr/>
          <p:nvPr/>
        </p:nvSpPr>
        <p:spPr>
          <a:xfrm>
            <a:off x="220927" y="147659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3DB25D-8770-7EC7-35D5-275120C7DA96}"/>
              </a:ext>
            </a:extLst>
          </p:cNvPr>
          <p:cNvSpPr/>
          <p:nvPr/>
        </p:nvSpPr>
        <p:spPr>
          <a:xfrm>
            <a:off x="7736417" y="476249"/>
            <a:ext cx="2815166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FE795A-B163-8327-EA66-83E8309FEB33}"/>
              </a:ext>
            </a:extLst>
          </p:cNvPr>
          <p:cNvSpPr/>
          <p:nvPr/>
        </p:nvSpPr>
        <p:spPr>
          <a:xfrm>
            <a:off x="1640416" y="476249"/>
            <a:ext cx="2815166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9">
            <a:extLst>
              <a:ext uri="{FF2B5EF4-FFF2-40B4-BE49-F238E27FC236}">
                <a16:creationId xmlns:a16="http://schemas.microsoft.com/office/drawing/2014/main" id="{097B9B41-2142-6D7D-F0F8-DB37C17A0DE9}"/>
              </a:ext>
            </a:extLst>
          </p:cNvPr>
          <p:cNvSpPr/>
          <p:nvPr/>
        </p:nvSpPr>
        <p:spPr>
          <a:xfrm>
            <a:off x="10952427" y="147658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81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7454-7F20-133D-CE18-FD3632DD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53FA2D-9B64-5C8E-9772-41D8C7242498}"/>
              </a:ext>
            </a:extLst>
          </p:cNvPr>
          <p:cNvSpPr txBox="1"/>
          <p:nvPr/>
        </p:nvSpPr>
        <p:spPr>
          <a:xfrm>
            <a:off x="8399606" y="971829"/>
            <a:ext cx="25589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Map Visualization</a:t>
            </a:r>
            <a:endParaRPr lang="en-US" sz="2600" b="1">
              <a:solidFill>
                <a:srgbClr val="FF0000"/>
              </a:solidFill>
              <a:latin typeface="Poppins SemiBold"/>
              <a:cs typeface="Poppins SemiBold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DC909-0874-F2B8-65CF-A22C4A35C3C8}"/>
              </a:ext>
            </a:extLst>
          </p:cNvPr>
          <p:cNvSpPr txBox="1"/>
          <p:nvPr/>
        </p:nvSpPr>
        <p:spPr>
          <a:xfrm>
            <a:off x="168348" y="102155"/>
            <a:ext cx="8526425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</a:rPr>
              <a:t>Updated Use Cases </a:t>
            </a:r>
            <a:endParaRPr lang="en-US" sz="4500" b="1">
              <a:solidFill>
                <a:srgbClr val="FF0000"/>
              </a:solidFill>
              <a:latin typeface="Poppins SemiBold"/>
              <a:cs typeface="Poppins SemiBold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FAFD2-4E0A-D968-7EB0-C75490B57A90}"/>
              </a:ext>
            </a:extLst>
          </p:cNvPr>
          <p:cNvSpPr txBox="1"/>
          <p:nvPr/>
        </p:nvSpPr>
        <p:spPr>
          <a:xfrm>
            <a:off x="4608607" y="971682"/>
            <a:ext cx="220182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Statistics     Exploration</a:t>
            </a:r>
            <a:endParaRPr lang="en-US" sz="260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54619-3E41-D396-0760-FEC50BA87D01}"/>
              </a:ext>
            </a:extLst>
          </p:cNvPr>
          <p:cNvSpPr txBox="1"/>
          <p:nvPr/>
        </p:nvSpPr>
        <p:spPr>
          <a:xfrm>
            <a:off x="169972" y="971829"/>
            <a:ext cx="406086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Driver </a:t>
            </a:r>
            <a:endParaRPr lang="en-US" sz="2600">
              <a:solidFill>
                <a:srgbClr val="000000"/>
              </a:solidFill>
              <a:latin typeface="Aptos" panose="02110004020202020204"/>
            </a:endParaRPr>
          </a:p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Selection</a:t>
            </a:r>
            <a:endParaRPr lang="en-US" sz="2600"/>
          </a:p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40A276-68DE-443C-C334-DEDA1BFE39CC}"/>
              </a:ext>
            </a:extLst>
          </p:cNvPr>
          <p:cNvCxnSpPr/>
          <p:nvPr/>
        </p:nvCxnSpPr>
        <p:spPr>
          <a:xfrm>
            <a:off x="-846" y="877924"/>
            <a:ext cx="8067774" cy="2761"/>
          </a:xfrm>
          <a:prstGeom prst="straightConnector1">
            <a:avLst/>
          </a:prstGeom>
          <a:ln>
            <a:solidFill>
              <a:srgbClr val="E6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618CC5-B392-B0E8-CA88-BD29E73B599E}"/>
              </a:ext>
            </a:extLst>
          </p:cNvPr>
          <p:cNvSpPr txBox="1"/>
          <p:nvPr/>
        </p:nvSpPr>
        <p:spPr>
          <a:xfrm>
            <a:off x="165588" y="1975178"/>
            <a:ext cx="404314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Click </a:t>
            </a:r>
            <a:r>
              <a:rPr lang="en-US" sz="2000">
                <a:ea typeface="Calibri"/>
                <a:cs typeface="Calibri"/>
              </a:rPr>
              <a:t>on a driver to view their metrics and make comparisons.</a:t>
            </a:r>
          </a:p>
          <a:p>
            <a:endParaRPr lang="en-US" sz="2000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63B6F-EE9F-2012-6817-45174A639229}"/>
              </a:ext>
            </a:extLst>
          </p:cNvPr>
          <p:cNvSpPr txBox="1"/>
          <p:nvPr/>
        </p:nvSpPr>
        <p:spPr>
          <a:xfrm>
            <a:off x="4608956" y="1939170"/>
            <a:ext cx="4054334" cy="18876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Bar chart shows lap count </a:t>
            </a:r>
            <a:endParaRPr lang="en-US" sz="20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500"/>
              </a:spcAft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by cluster</a:t>
            </a:r>
            <a:endParaRPr lang="en-US" sz="2000">
              <a:ea typeface="Calibri"/>
              <a:cs typeface="Calibri"/>
            </a:endParaRPr>
          </a:p>
          <a:p>
            <a:pPr>
              <a:spcAft>
                <a:spcPts val="500"/>
              </a:spcAft>
            </a:pPr>
            <a:r>
              <a:rPr lang="en-US" sz="2000">
                <a:latin typeface="Aptos"/>
                <a:ea typeface="Calibri"/>
                <a:cs typeface="Calibri"/>
              </a:rPr>
              <a:t>Radar Chart displays 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Aft>
                <a:spcPts val="500"/>
              </a:spcAft>
            </a:pPr>
            <a:r>
              <a:rPr lang="en-US" sz="2000">
                <a:latin typeface="Aptos"/>
                <a:ea typeface="Calibri"/>
                <a:cs typeface="Calibri"/>
              </a:rPr>
              <a:t>clustering distribution.</a:t>
            </a:r>
            <a:endParaRPr lang="en-US"/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A1F42CD-14DD-C454-DD49-9BC3A9A0DA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9"/>
          <a:stretch>
            <a:fillRect/>
          </a:stretch>
        </p:blipFill>
        <p:spPr>
          <a:xfrm>
            <a:off x="166757" y="2887731"/>
            <a:ext cx="3956690" cy="1083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3E4919-DA43-6427-64F2-3EB85EF1C48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464" y="3508724"/>
            <a:ext cx="2931787" cy="1685278"/>
          </a:xfrm>
          <a:prstGeom prst="rect">
            <a:avLst/>
          </a:prstGeom>
        </p:spPr>
      </p:pic>
      <p:pic>
        <p:nvPicPr>
          <p:cNvPr id="11" name="Picture 10" descr="A black rectangular sign with white text&#10;&#10;AI-generated content may be incorrect.">
            <a:extLst>
              <a:ext uri="{FF2B5EF4-FFF2-40B4-BE49-F238E27FC236}">
                <a16:creationId xmlns:a16="http://schemas.microsoft.com/office/drawing/2014/main" id="{15858C4F-2E7C-1141-9A72-335BFA00C34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174" y="5528755"/>
            <a:ext cx="3959090" cy="3890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9F80C3-E7B7-44A1-4116-2FD5BBD78AAA}"/>
              </a:ext>
            </a:extLst>
          </p:cNvPr>
          <p:cNvSpPr txBox="1"/>
          <p:nvPr/>
        </p:nvSpPr>
        <p:spPr>
          <a:xfrm>
            <a:off x="98189" y="4179959"/>
            <a:ext cx="67499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Poppins SemiBold"/>
              </a:rPr>
              <a:t>Track Selection</a:t>
            </a:r>
            <a:endParaRPr lang="en-US" sz="2600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EB95D-CC11-6E74-C2A2-136EC905862B}"/>
              </a:ext>
            </a:extLst>
          </p:cNvPr>
          <p:cNvSpPr txBox="1"/>
          <p:nvPr/>
        </p:nvSpPr>
        <p:spPr>
          <a:xfrm>
            <a:off x="176632" y="4752612"/>
            <a:ext cx="4037625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Dropdown menu </a:t>
            </a:r>
            <a:r>
              <a:rPr lang="en-US" sz="2000">
                <a:ea typeface="Calibri"/>
                <a:cs typeface="Calibri"/>
              </a:rPr>
              <a:t>updates map visualization and statistics block</a:t>
            </a:r>
          </a:p>
          <a:p>
            <a:endParaRPr lang="en-US" sz="2000">
              <a:ea typeface="Calibri"/>
              <a:cs typeface="Calibri"/>
            </a:endParaRPr>
          </a:p>
          <a:p>
            <a:endParaRPr lang="en-US"/>
          </a:p>
        </p:txBody>
      </p:sp>
      <p:pic>
        <p:nvPicPr>
          <p:cNvPr id="16" name="Picture 15" descr="A black rectangular object with red text&#10;&#10;AI-generated content may be incorrect.">
            <a:extLst>
              <a:ext uri="{FF2B5EF4-FFF2-40B4-BE49-F238E27FC236}">
                <a16:creationId xmlns:a16="http://schemas.microsoft.com/office/drawing/2014/main" id="{E52A287B-028C-BC29-4321-1A212F50D90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606" y="3039920"/>
            <a:ext cx="3948045" cy="7806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ABDB11-9F0A-0F3B-D106-1605A78C6B0B}"/>
              </a:ext>
            </a:extLst>
          </p:cNvPr>
          <p:cNvSpPr txBox="1"/>
          <p:nvPr/>
        </p:nvSpPr>
        <p:spPr>
          <a:xfrm>
            <a:off x="8273727" y="2081534"/>
            <a:ext cx="3697662" cy="10797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>
                <a:latin typeface="Aptos"/>
                <a:ea typeface="Calibri"/>
                <a:cs typeface="Calibri"/>
              </a:rPr>
              <a:t>Includes lap ingestion summary for further clustering analysis</a:t>
            </a:r>
          </a:p>
          <a:p>
            <a:pPr>
              <a:spcAft>
                <a:spcPts val="500"/>
              </a:spcAft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19" name="Picture 18" descr="A map with a red line&#10;&#10;AI-generated content may be incorrect.">
            <a:extLst>
              <a:ext uri="{FF2B5EF4-FFF2-40B4-BE49-F238E27FC236}">
                <a16:creationId xmlns:a16="http://schemas.microsoft.com/office/drawing/2014/main" id="{A715D0E7-BD52-D2CA-6B51-AC09B655A80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607" y="4232295"/>
            <a:ext cx="3925957" cy="1546322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A7A38AD6-A2EC-B967-FFAD-EF985E8A0C3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552" y="5401467"/>
            <a:ext cx="2943514" cy="117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52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13AC-84D6-4493-94BF-9CD80EDE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BFC2787-E717-2015-39C2-C812CAA4949E}"/>
              </a:ext>
            </a:extLst>
          </p:cNvPr>
          <p:cNvSpPr txBox="1"/>
          <p:nvPr/>
        </p:nvSpPr>
        <p:spPr>
          <a:xfrm>
            <a:off x="3814469" y="142953"/>
            <a:ext cx="45630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Website V2</a:t>
            </a:r>
            <a:endParaRPr lang="en-US" sz="4500" b="1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Graphic 9">
            <a:extLst>
              <a:ext uri="{FF2B5EF4-FFF2-40B4-BE49-F238E27FC236}">
                <a16:creationId xmlns:a16="http://schemas.microsoft.com/office/drawing/2014/main" id="{ECC09F50-EC0B-B412-B8DE-CB30D94F817C}"/>
              </a:ext>
            </a:extLst>
          </p:cNvPr>
          <p:cNvSpPr/>
          <p:nvPr/>
        </p:nvSpPr>
        <p:spPr>
          <a:xfrm>
            <a:off x="220927" y="147659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CA0212-5234-7B38-6C6A-B4CA8E038D91}"/>
              </a:ext>
            </a:extLst>
          </p:cNvPr>
          <p:cNvSpPr/>
          <p:nvPr/>
        </p:nvSpPr>
        <p:spPr>
          <a:xfrm>
            <a:off x="7899174" y="476249"/>
            <a:ext cx="2747104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AF72C1-A888-169F-D529-01DAB26B9866}"/>
              </a:ext>
            </a:extLst>
          </p:cNvPr>
          <p:cNvSpPr/>
          <p:nvPr/>
        </p:nvSpPr>
        <p:spPr>
          <a:xfrm>
            <a:off x="1477659" y="476249"/>
            <a:ext cx="2747104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9">
            <a:extLst>
              <a:ext uri="{FF2B5EF4-FFF2-40B4-BE49-F238E27FC236}">
                <a16:creationId xmlns:a16="http://schemas.microsoft.com/office/drawing/2014/main" id="{F35A6578-BC85-8EDB-696D-4107058981AA}"/>
              </a:ext>
            </a:extLst>
          </p:cNvPr>
          <p:cNvSpPr/>
          <p:nvPr/>
        </p:nvSpPr>
        <p:spPr>
          <a:xfrm>
            <a:off x="10952427" y="147658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CC8814-25F1-58C9-F52B-4C467A6A51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925526"/>
            <a:ext cx="10363199" cy="580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96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6766-2ECF-99B7-C809-E86EEF4A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8C555F97-B3B4-8FE7-7C87-FB72178514C0}"/>
              </a:ext>
            </a:extLst>
          </p:cNvPr>
          <p:cNvSpPr/>
          <p:nvPr/>
        </p:nvSpPr>
        <p:spPr>
          <a:xfrm rot="21176416">
            <a:off x="-639636" y="5844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D98B1-B983-1150-B8B1-56FF9B73B652}"/>
              </a:ext>
            </a:extLst>
          </p:cNvPr>
          <p:cNvSpPr txBox="1"/>
          <p:nvPr/>
        </p:nvSpPr>
        <p:spPr>
          <a:xfrm>
            <a:off x="4135846" y="137540"/>
            <a:ext cx="4120359" cy="7920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500" b="1">
                <a:solidFill>
                  <a:srgbClr val="FF0000"/>
                </a:solidFill>
                <a:latin typeface="Poppins SemiBold"/>
                <a:cs typeface="Poppins SemiBold"/>
              </a:rPr>
              <a:t>Architecture</a:t>
            </a:r>
            <a:endParaRPr lang="en-US" sz="4500" b="1">
              <a:solidFill>
                <a:srgbClr val="FF0000"/>
              </a:solidFill>
              <a:latin typeface="Poppins SemiBold"/>
              <a:cs typeface="Poppins SemiBold"/>
            </a:endParaRP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98FB78D1-D0BC-11F7-9FDC-92C55A3A5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553" y="25372862"/>
            <a:ext cx="12673439" cy="740567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72651C1-D2FE-748C-5B8F-714E5F43C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553" y="25372862"/>
            <a:ext cx="12673439" cy="7405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7468F5-1A77-30E8-D9AD-669AFC14F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093" y="929627"/>
            <a:ext cx="10193173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29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EA3B-DC2D-08B9-4CD8-4A5D58ED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ce car on a track&#10;&#10;AI-generated content may be incorrect.">
            <a:extLst>
              <a:ext uri="{FF2B5EF4-FFF2-40B4-BE49-F238E27FC236}">
                <a16:creationId xmlns:a16="http://schemas.microsoft.com/office/drawing/2014/main" id="{EFB3408C-BCFF-1F2E-5894-A810AFB7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0" t="247" r="6152" b="-75"/>
          <a:stretch>
            <a:fillRect/>
          </a:stretch>
        </p:blipFill>
        <p:spPr>
          <a:xfrm>
            <a:off x="-197711" y="-114231"/>
            <a:ext cx="12602410" cy="7087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750739-3E3B-7E02-FF2F-160300C47AF5}"/>
              </a:ext>
            </a:extLst>
          </p:cNvPr>
          <p:cNvSpPr txBox="1"/>
          <p:nvPr/>
        </p:nvSpPr>
        <p:spPr>
          <a:xfrm>
            <a:off x="975351" y="87816"/>
            <a:ext cx="849229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latin typeface="Poppins SemiBold"/>
                <a:cs typeface="Poppins SemiBold"/>
              </a:rPr>
              <a:t>Formula 1</a:t>
            </a:r>
            <a:endParaRPr lang="en-US" sz="9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C186C-1088-115F-BD2A-862494CA07D9}"/>
              </a:ext>
            </a:extLst>
          </p:cNvPr>
          <p:cNvSpPr txBox="1"/>
          <p:nvPr/>
        </p:nvSpPr>
        <p:spPr>
          <a:xfrm>
            <a:off x="971572" y="1438631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600">
                <a:latin typeface="Calibri Light"/>
                <a:ea typeface="Calibri Light"/>
                <a:cs typeface="Calibri Light"/>
              </a:rPr>
              <a:t>Telemetry Insights Visual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2B1A3-755E-5A15-BD54-D277B4732431}"/>
              </a:ext>
            </a:extLst>
          </p:cNvPr>
          <p:cNvSpPr txBox="1"/>
          <p:nvPr/>
        </p:nvSpPr>
        <p:spPr>
          <a:xfrm>
            <a:off x="979042" y="6383943"/>
            <a:ext cx="9478128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All the way back to the starting line...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I'm excited to announce that I will be spending the summer of 2024 as a  Motorsports Intern at the General Motors Technical Center in North  Carolina! I'm looking forward to working with">
            <a:extLst>
              <a:ext uri="{FF2B5EF4-FFF2-40B4-BE49-F238E27FC236}">
                <a16:creationId xmlns:a16="http://schemas.microsoft.com/office/drawing/2014/main" id="{F0E9AFCF-6F31-4C52-EC87-80C0738E3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5725" y="239713"/>
            <a:ext cx="2391105" cy="1193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BC7AF-96CC-01DD-B5DD-F35B668C5175}"/>
              </a:ext>
            </a:extLst>
          </p:cNvPr>
          <p:cNvSpPr txBox="1"/>
          <p:nvPr/>
        </p:nvSpPr>
        <p:spPr>
          <a:xfrm>
            <a:off x="975351" y="20581"/>
            <a:ext cx="621750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solidFill>
                  <a:srgbClr val="D60000"/>
                </a:solidFill>
                <a:latin typeface="Poppins SemiBold"/>
                <a:cs typeface="Poppins SemiBold"/>
              </a:rPr>
              <a:t>Formula 1</a:t>
            </a:r>
            <a:endParaRPr lang="en-US" sz="9600">
              <a:solidFill>
                <a:srgbClr val="D6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BB8EAD-B632-70FB-E5BC-EB4468895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4B251C8-47D4-56AC-E843-62F39E963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980AF668775C489F286D3ACC930043" ma:contentTypeVersion="8" ma:contentTypeDescription="Create a new document." ma:contentTypeScope="" ma:versionID="1e8a79e1d2f60241a326e15bd04849d2">
  <xsd:schema xmlns:xsd="http://www.w3.org/2001/XMLSchema" xmlns:xs="http://www.w3.org/2001/XMLSchema" xmlns:p="http://schemas.microsoft.com/office/2006/metadata/properties" xmlns:ns2="1f16dbf7-1624-42b0-94f0-c170d6d8c99c" targetNamespace="http://schemas.microsoft.com/office/2006/metadata/properties" ma:root="true" ma:fieldsID="647d36d853bdb42c52ef5ec42b7b3ddb" ns2:_="">
    <xsd:import namespace="1f16dbf7-1624-42b0-94f0-c170d6d8c9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6dbf7-1624-42b0-94f0-c170d6d8c9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0E2C42-2AA3-46DC-B12B-0811CAA852F4}">
  <ds:schemaRefs>
    <ds:schemaRef ds:uri="1f16dbf7-1624-42b0-94f0-c170d6d8c9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09B18E-9758-448E-A027-DBA9D4DB21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4DA4B0-8A22-4536-9541-BEC36458C2B0}">
  <ds:schemaRefs>
    <ds:schemaRef ds:uri="http://purl.org/dc/terms/"/>
    <ds:schemaRef ds:uri="http://purl.org/dc/dcmitype/"/>
    <ds:schemaRef ds:uri="http://www.w3.org/XML/1998/namespace"/>
    <ds:schemaRef ds:uri="1f16dbf7-1624-42b0-94f0-c170d6d8c99c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1807</TotalTime>
  <Words>935</Words>
  <Application>Microsoft Office PowerPoint</Application>
  <PresentationFormat>Widescreen</PresentationFormat>
  <Paragraphs>202</Paragraphs>
  <Slides>22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Arial,Sans-Serif</vt:lpstr>
      <vt:lpstr>Calibri</vt:lpstr>
      <vt:lpstr>Calibri Light</vt:lpstr>
      <vt:lpstr>Courier New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Naseeba Sithara</dc:creator>
  <cp:lastModifiedBy>Eli Rose</cp:lastModifiedBy>
  <cp:revision>14</cp:revision>
  <dcterms:created xsi:type="dcterms:W3CDTF">2025-01-08T10:32:33Z</dcterms:created>
  <dcterms:modified xsi:type="dcterms:W3CDTF">2026-10-29T21:58:58Z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0x010100A2980AF668775C489F286D3ACC930043</vt:lpwstr>
  </property>
</Properties>
</file>